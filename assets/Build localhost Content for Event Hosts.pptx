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Layouts/slideLayout22.xml" ContentType="application/vnd.openxmlformats-officedocument.presentationml.slideLayout+xml"/>
  <Override PartName="/ppt/authors.xml" ContentType="application/vnd.ms-powerpoint.authors+xml"/>
  <Override PartName="/ppt/slideLayouts/slideLayout4.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ppt/slideLayouts/slideLayout50.xml" ContentType="application/vnd.openxmlformats-officedocument.presentationml.slideLayout+xml"/>
  <Override PartName="/docMetadata/LabelInfo.xml" ContentType="application/vnd.ms-office.classificationlabels+xml"/>
  <Override PartName="/docProps/app.xml" ContentType="application/vnd.openxmlformats-officedocument.extended-properties+xml"/>
  <Override PartName="/ppt/notesSlides/notesSlide4.xml" ContentType="application/vnd.openxmlformats-officedocument.presentationml.notesSlide+xml"/>
  <Override PartName="/ppt/slides/slide2.xml" ContentType="application/vnd.openxmlformats-officedocument.presentationml.slide+xml"/>
  <Override PartName="/ppt/slideLayouts/slideLayout37.xml" ContentType="application/vnd.openxmlformats-officedocument.presentationml.slideLayout+xml"/>
  <Override PartName="/ppt/comments/modernComment_7FFFFFFF_30DD676.xml" ContentType="application/vnd.ms-powerpoint.comments+xml"/>
  <Override PartName="/ppt/slideLayouts/slideLayout16.xml" ContentType="application/vnd.openxmlformats-officedocument.presentationml.slideLayout+xml"/>
  <Override PartName="/ppt/slideLayouts/slideLayout24.xml" ContentType="application/vnd.openxmlformats-officedocument.presentationml.slideLayout+xml"/>
  <Override PartName="/ppt/notesSlides/notesSlide2.xml" ContentType="application/vnd.openxmlformats-officedocument.presentationml.notesSlide+xml"/>
  <Override PartName="/ppt/slides/slide4.xml" ContentType="application/vnd.openxmlformats-officedocument.presentationml.slide+xml"/>
  <Override PartName="/ppt/slideLayouts/slideLayout31.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38.xml" ContentType="application/vnd.openxmlformats-officedocument.presentationml.slideLayout+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51.xml" ContentType="application/vnd.openxmlformats-officedocument.presentationml.slideLayout+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41.xml" ContentType="application/vnd.openxmlformats-officedocument.presentationml.slideLayout+xml"/>
  <Override PartName="/ppt/slideLayouts/slideLayout21.xml" ContentType="application/vnd.openxmlformats-officedocument.presentationml.slideLayout+xml"/>
  <Override PartName="/ppt/slideLayouts/slideLayout25.xml" ContentType="application/vnd.openxmlformats-officedocument.presentationml.slideLayout+xml"/>
  <Override PartName="/ppt/slideLayouts/slideLayout6.xml" ContentType="application/vnd.openxmlformats-officedocument.presentationml.slideLayout+xml"/>
  <Override PartName="/ppt/slideLayouts/slideLayout18.xml" ContentType="application/vnd.openxmlformats-officedocument.presentationml.slideLayout+xml"/>
  <Override PartName="/ppt/slideLayouts/slideLayout47.xml" ContentType="application/vnd.openxmlformats-officedocument.presentationml.slideLayout+xml"/>
  <Override PartName="/ppt/slideLayouts/slideLayout33.xml" ContentType="application/vnd.openxmlformats-officedocument.presentationml.slideLayout+xml"/>
  <Override PartName="/ppt/slideMasters/slideMaster1.xml" ContentType="application/vnd.openxmlformats-officedocument.presentationml.slideMaster+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0.xml" ContentType="application/vnd.openxmlformats-officedocument.presentationml.slideLayout+xml"/>
  <Override PartName="/ppt/slideLayouts/slideLayout32.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147479495" r:id="rId2"/>
    <p:sldId id="268" r:id="rId3"/>
    <p:sldId id="2147483647" r:id="rId4"/>
    <p:sldId id="262" r:id="rId5"/>
    <p:sldId id="28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1B0F0AE-1AD8-D651-0F72-8F3A19BAC8FD}" name="Molly Kihanya (SIMPLICITY CONSULTING LLC)" initials="MK" userId="S::v-molkihanya@microsoft.com::cf2d615d-9ef4-412a-ae5a-65a47985b1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3" d="100"/>
          <a:sy n="63" d="100"/>
        </p:scale>
        <p:origin x="6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2.xml"/></Relationships>
</file>

<file path=ppt/comments/modernComment_7FFFFFFF_30DD676.xml><?xml version="1.0" encoding="utf-8"?>
<p188:cmLst xmlns:a="http://schemas.openxmlformats.org/drawingml/2006/main" xmlns:r="http://schemas.openxmlformats.org/officeDocument/2006/relationships" xmlns:p188="http://schemas.microsoft.com/office/powerpoint/2018/8/main">
  <p188:cm id="{AB9585F7-3D9B-474F-9B9C-1F83D63163D2}" authorId="{01B0F0AE-1AD8-D651-0F72-8F3A19BAC8FD}" created="2026-06-03T17:42:49.182">
    <pc:sldMkLst xmlns:pc="http://schemas.microsoft.com/office/powerpoint/2013/main/command">
      <pc:docMk/>
      <pc:sldMk cId="51238518" sldId="2147483647"/>
    </pc:sldMkLst>
    <p188:txBody>
      <a:bodyPr/>
      <a:lstStyle/>
      <a:p>
        <a:r>
          <a:rPr lang="en-US"/>
          <a:t>[@Daniela Siorek (SYNAXIS CORPORATION)] - Is this slide up to date?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F3A58-E416-4554-A041-CEC4EC0C6585}"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700C83-DBA2-4EEC-88BD-08FF04332FA8}" type="slidenum">
              <a:rPr lang="en-US" smtClean="0"/>
              <a:t>‹#›</a:t>
            </a:fld>
            <a:endParaRPr lang="en-US"/>
          </a:p>
        </p:txBody>
      </p:sp>
    </p:spTree>
    <p:extLst>
      <p:ext uri="{BB962C8B-B14F-4D97-AF65-F5344CB8AC3E}">
        <p14:creationId xmlns:p14="http://schemas.microsoft.com/office/powerpoint/2010/main" val="1208419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6/3/2026 10:51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08508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103D1B-6DAC-4710-BB41-92D6215A11F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87737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FB5D-79B5-B576-C664-88C6BFC50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DF413-BBEA-F2D1-463C-834A4BB35B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1B8E8C-E0DF-1225-67CD-F7E679C5E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Update 5/12: Remove LAB512 and add LAB530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Update 5/20: Remove LAB530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Update 5/21: Dev Tools track - Remove BRK200 and add BRK207</a:t>
            </a:r>
          </a:p>
        </p:txBody>
      </p:sp>
    </p:spTree>
    <p:extLst>
      <p:ext uri="{BB962C8B-B14F-4D97-AF65-F5344CB8AC3E}">
        <p14:creationId xmlns:p14="http://schemas.microsoft.com/office/powerpoint/2010/main" val="2805523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BFC3-ED3D-269E-8F72-162BFAC3B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B0CD9-D337-BD12-1D4D-2E0FCA77F7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36BE72-07DE-4CF1-B3BD-BD064F5BBD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Update 5/12: Remove LAB512 and add LAB530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Update 5/20: Remove LAB530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Update 5/21: Remove BRK200 and add BRK207</a:t>
            </a:r>
          </a:p>
          <a:p>
            <a:endParaRPr lang="en-US"/>
          </a:p>
        </p:txBody>
      </p:sp>
    </p:spTree>
    <p:extLst>
      <p:ext uri="{BB962C8B-B14F-4D97-AF65-F5344CB8AC3E}">
        <p14:creationId xmlns:p14="http://schemas.microsoft.com/office/powerpoint/2010/main" val="24673137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5" Type="http://schemas.openxmlformats.org/officeDocument/2006/relationships/image" Target="../media/image24.jpeg"/><Relationship Id="rId4" Type="http://schemas.openxmlformats.org/officeDocument/2006/relationships/image" Target="../media/image23.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2.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5" Type="http://schemas.openxmlformats.org/officeDocument/2006/relationships/image" Target="../media/image33.jpeg"/><Relationship Id="rId4" Type="http://schemas.openxmlformats.org/officeDocument/2006/relationships/image" Target="../media/image32.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93A7DCC4-90CB-5487-9CD7-96D3ADB377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 name="Picture 4">
            <a:extLst>
              <a:ext uri="{FF2B5EF4-FFF2-40B4-BE49-F238E27FC236}">
                <a16:creationId xmlns:a16="http://schemas.microsoft.com/office/drawing/2014/main" id="{F7771300-CAF5-B6B5-CF45-EBEDBBBD5AC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293688" y="1892300"/>
            <a:ext cx="9066212" cy="4368800"/>
          </a:xfrm>
          <a:prstGeom prst="rect">
            <a:avLst/>
          </a:prstGeom>
        </p:spPr>
      </p:pic>
    </p:spTree>
    <p:extLst>
      <p:ext uri="{BB962C8B-B14F-4D97-AF65-F5344CB8AC3E}">
        <p14:creationId xmlns:p14="http://schemas.microsoft.com/office/powerpoint/2010/main" val="3331716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2" name="MS logo white - EMF" descr="Microsoft logo white text version">
            <a:extLst>
              <a:ext uri="{FF2B5EF4-FFF2-40B4-BE49-F238E27FC236}">
                <a16:creationId xmlns:a16="http://schemas.microsoft.com/office/drawing/2014/main" id="{8C97F8FC-6154-33A9-9E6C-1A787DA153C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95767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37542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1217940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58340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9493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00321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08670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048506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47619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05391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214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4129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7804413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843687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16410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7108183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3132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054541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0560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465120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7662339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09106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165040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72466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068376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227934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3214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758372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40285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184540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8012735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197091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7535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740406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574993021"/>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611520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796633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5797675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9087837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417217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057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Section title</a:t>
            </a:r>
          </a:p>
        </p:txBody>
      </p:sp>
      <p:pic>
        <p:nvPicPr>
          <p:cNvPr id="4" name="Picture 3">
            <a:extLst>
              <a:ext uri="{FF2B5EF4-FFF2-40B4-BE49-F238E27FC236}">
                <a16:creationId xmlns:a16="http://schemas.microsoft.com/office/drawing/2014/main" id="{FBE92415-D13E-5E6D-DBFD-80D73DF182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0" y="3744563"/>
            <a:ext cx="12192000" cy="3113437"/>
          </a:xfrm>
          <a:prstGeom prst="rect">
            <a:avLst/>
          </a:prstGeom>
        </p:spPr>
      </p:pic>
    </p:spTree>
    <p:extLst>
      <p:ext uri="{BB962C8B-B14F-4D97-AF65-F5344CB8AC3E}">
        <p14:creationId xmlns:p14="http://schemas.microsoft.com/office/powerpoint/2010/main" val="36212385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063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9284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30400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012842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982494187"/>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171001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content_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BE7C1E-447D-C36A-7CEC-A658BC443DB5}"/>
              </a:ext>
            </a:extLst>
          </p:cNvPr>
          <p:cNvSpPr/>
          <p:nvPr userDrawn="1"/>
        </p:nvSpPr>
        <p:spPr bwMode="auto">
          <a:xfrm>
            <a:off x="0" y="0"/>
            <a:ext cx="12192000" cy="6858000"/>
          </a:xfrm>
          <a:prstGeom prst="rect">
            <a:avLst/>
          </a:prstGeom>
          <a:gradFill flip="none" rotWithShape="1">
            <a:gsLst>
              <a:gs pos="100000">
                <a:schemeClr val="accent1">
                  <a:lumMod val="20000"/>
                  <a:lumOff val="80000"/>
                  <a:alpha val="27000"/>
                </a:schemeClr>
              </a:gs>
              <a:gs pos="32000">
                <a:schemeClr val="bg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descr="A blue wavy object with black background&#10;&#10;AI-generated content may be incorrect.">
            <a:extLst>
              <a:ext uri="{FF2B5EF4-FFF2-40B4-BE49-F238E27FC236}">
                <a16:creationId xmlns:a16="http://schemas.microsoft.com/office/drawing/2014/main" id="{92CAD3AA-E222-6950-CA64-07EF877459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065880" flipH="1" flipV="1">
            <a:off x="9310085" y="5675016"/>
            <a:ext cx="3071290" cy="1457984"/>
          </a:xfrm>
          <a:custGeom>
            <a:avLst/>
            <a:gdLst>
              <a:gd name="connsiteX0" fmla="*/ 3071290 w 3071290"/>
              <a:gd name="connsiteY0" fmla="*/ 0 h 1457984"/>
              <a:gd name="connsiteX1" fmla="*/ 2755121 w 3071290"/>
              <a:gd name="connsiteY1" fmla="*/ 1457984 h 1457984"/>
              <a:gd name="connsiteX2" fmla="*/ 0 w 3071290"/>
              <a:gd name="connsiteY2" fmla="*/ 860527 h 1457984"/>
              <a:gd name="connsiteX3" fmla="*/ 0 w 3071290"/>
              <a:gd name="connsiteY3" fmla="*/ 0 h 1457984"/>
            </a:gdLst>
            <a:ahLst/>
            <a:cxnLst>
              <a:cxn ang="0">
                <a:pos x="connsiteX0" y="connsiteY0"/>
              </a:cxn>
              <a:cxn ang="0">
                <a:pos x="connsiteX1" y="connsiteY1"/>
              </a:cxn>
              <a:cxn ang="0">
                <a:pos x="connsiteX2" y="connsiteY2"/>
              </a:cxn>
              <a:cxn ang="0">
                <a:pos x="connsiteX3" y="connsiteY3"/>
              </a:cxn>
            </a:cxnLst>
            <a:rect l="l" t="t" r="r" b="b"/>
            <a:pathLst>
              <a:path w="3071290" h="1457984">
                <a:moveTo>
                  <a:pt x="3071290" y="0"/>
                </a:moveTo>
                <a:lnTo>
                  <a:pt x="2755121" y="1457984"/>
                </a:lnTo>
                <a:lnTo>
                  <a:pt x="0" y="860527"/>
                </a:lnTo>
                <a:lnTo>
                  <a:pt x="0" y="0"/>
                </a:lnTo>
                <a:close/>
              </a:path>
            </a:pathLst>
          </a:custGeom>
        </p:spPr>
      </p:pic>
      <p:sp>
        <p:nvSpPr>
          <p:cNvPr id="5" name="Title 4">
            <a:extLst>
              <a:ext uri="{FF2B5EF4-FFF2-40B4-BE49-F238E27FC236}">
                <a16:creationId xmlns:a16="http://schemas.microsoft.com/office/drawing/2014/main" id="{F8AEC76F-E395-B562-9873-B77A02DB8B33}"/>
              </a:ext>
            </a:extLst>
          </p:cNvPr>
          <p:cNvSpPr>
            <a:spLocks noGrp="1"/>
          </p:cNvSpPr>
          <p:nvPr>
            <p:ph type="title"/>
          </p:nvPr>
        </p:nvSpPr>
        <p:spPr>
          <a:xfrm>
            <a:off x="581025" y="571500"/>
            <a:ext cx="11029950" cy="443198"/>
          </a:xfrm>
        </p:spPr>
        <p:txBody>
          <a:bodyPr lIns="0" tIns="0" rIns="0" bIns="0" anchor="t">
            <a:spAutoFit/>
          </a:bodyPr>
          <a:lstStyle>
            <a:lvl1pPr>
              <a:defRPr>
                <a:solidFill>
                  <a:schemeClr val="tx1"/>
                </a:solidFill>
                <a:latin typeface="+mj-lt"/>
                <a:cs typeface="Segoe UI Semibold" panose="020B0702040204020203" pitchFamily="34" charset="0"/>
              </a:defRPr>
            </a:lvl1pPr>
          </a:lstStyle>
          <a:p>
            <a:r>
              <a:rPr lang="en-US"/>
              <a:t>Click to edit Master title style</a:t>
            </a:r>
          </a:p>
        </p:txBody>
      </p:sp>
      <p:sp>
        <p:nvSpPr>
          <p:cNvPr id="8" name="Text Placeholder 7">
            <a:extLst>
              <a:ext uri="{FF2B5EF4-FFF2-40B4-BE49-F238E27FC236}">
                <a16:creationId xmlns:a16="http://schemas.microsoft.com/office/drawing/2014/main" id="{FDE68D18-907D-7736-D75B-494B27390DA4}"/>
              </a:ext>
            </a:extLst>
          </p:cNvPr>
          <p:cNvSpPr>
            <a:spLocks noGrp="1"/>
          </p:cNvSpPr>
          <p:nvPr>
            <p:ph type="body" sz="quarter" idx="10" hasCustomPrompt="1"/>
          </p:nvPr>
        </p:nvSpPr>
        <p:spPr>
          <a:xfrm>
            <a:off x="581025" y="1609724"/>
            <a:ext cx="11029950" cy="4676775"/>
          </a:xfrm>
        </p:spPr>
        <p:txBody>
          <a:bodyPr vert="horz" lIns="0" tIns="0" rIns="0" bIns="0" rtlCol="0">
            <a:normAutofit/>
          </a:bodyPr>
          <a:lstStyle>
            <a:lvl1pPr>
              <a:defRPr lang="en-US" sz="2000" dirty="0" smtClean="0"/>
            </a:lvl1pPr>
            <a:lvl2pPr>
              <a:defRPr lang="en-US" sz="2000" dirty="0" smtClean="0"/>
            </a:lvl2pPr>
            <a:lvl3pPr>
              <a:defRPr lang="en-US" dirty="0" smtClean="0"/>
            </a:lvl3pPr>
            <a:lvl4pPr>
              <a:defRPr lang="en-US" sz="2000" dirty="0" smtClean="0"/>
            </a:lvl4pPr>
            <a:lvl5pPr>
              <a:defRPr lang="en-US" sz="2000" dirty="0"/>
            </a:lvl5pPr>
          </a:lstStyle>
          <a:p>
            <a:pPr lvl="0"/>
            <a:r>
              <a:rPr lang="en-US"/>
              <a:t>Click to add text</a:t>
            </a:r>
          </a:p>
        </p:txBody>
      </p:sp>
      <p:pic>
        <p:nvPicPr>
          <p:cNvPr id="6" name="Picture 5" descr="A blue wavy object with black background&#10;&#10;AI-generated content may be incorrect.">
            <a:extLst>
              <a:ext uri="{FF2B5EF4-FFF2-40B4-BE49-F238E27FC236}">
                <a16:creationId xmlns:a16="http://schemas.microsoft.com/office/drawing/2014/main" id="{D0820775-6AD1-0993-8CB0-574A3515B2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rot="10065880">
            <a:off x="-131785" y="-248910"/>
            <a:ext cx="2661941" cy="958372"/>
          </a:xfrm>
          <a:custGeom>
            <a:avLst/>
            <a:gdLst>
              <a:gd name="connsiteX0" fmla="*/ 2454115 w 2661941"/>
              <a:gd name="connsiteY0" fmla="*/ 958372 h 958372"/>
              <a:gd name="connsiteX1" fmla="*/ 0 w 2661941"/>
              <a:gd name="connsiteY1" fmla="*/ 426189 h 958372"/>
              <a:gd name="connsiteX2" fmla="*/ 0 w 2661941"/>
              <a:gd name="connsiteY2" fmla="*/ 0 h 958372"/>
              <a:gd name="connsiteX3" fmla="*/ 2661941 w 2661941"/>
              <a:gd name="connsiteY3" fmla="*/ 0 h 958372"/>
            </a:gdLst>
            <a:ahLst/>
            <a:cxnLst>
              <a:cxn ang="0">
                <a:pos x="connsiteX0" y="connsiteY0"/>
              </a:cxn>
              <a:cxn ang="0">
                <a:pos x="connsiteX1" y="connsiteY1"/>
              </a:cxn>
              <a:cxn ang="0">
                <a:pos x="connsiteX2" y="connsiteY2"/>
              </a:cxn>
              <a:cxn ang="0">
                <a:pos x="connsiteX3" y="connsiteY3"/>
              </a:cxn>
            </a:cxnLst>
            <a:rect l="l" t="t" r="r" b="b"/>
            <a:pathLst>
              <a:path w="2661941" h="958372">
                <a:moveTo>
                  <a:pt x="2454115" y="958372"/>
                </a:moveTo>
                <a:lnTo>
                  <a:pt x="0" y="426189"/>
                </a:lnTo>
                <a:lnTo>
                  <a:pt x="0" y="0"/>
                </a:lnTo>
                <a:lnTo>
                  <a:pt x="2661941" y="0"/>
                </a:lnTo>
                <a:close/>
              </a:path>
            </a:pathLst>
          </a:custGeom>
        </p:spPr>
      </p:pic>
    </p:spTree>
    <p:extLst>
      <p:ext uri="{BB962C8B-B14F-4D97-AF65-F5344CB8AC3E}">
        <p14:creationId xmlns:p14="http://schemas.microsoft.com/office/powerpoint/2010/main" val="16634350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our Pillars">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23A6ED6A-3F7B-623B-8CD4-CF2443E7C758}"/>
              </a:ext>
            </a:extLst>
          </p:cNvPr>
          <p:cNvSpPr/>
          <p:nvPr userDrawn="1"/>
        </p:nvSpPr>
        <p:spPr bwMode="auto">
          <a:xfrm>
            <a:off x="142875" y="146050"/>
            <a:ext cx="11912600" cy="6565900"/>
          </a:xfrm>
          <a:prstGeom prst="roundRect">
            <a:avLst>
              <a:gd name="adj" fmla="val 128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13" name="Text Placeholder 11">
            <a:extLst>
              <a:ext uri="{FF2B5EF4-FFF2-40B4-BE49-F238E27FC236}">
                <a16:creationId xmlns:a16="http://schemas.microsoft.com/office/drawing/2014/main" id="{26E4FFEF-5FB0-58A4-137E-3A7EDBAD1418}"/>
              </a:ext>
            </a:extLst>
          </p:cNvPr>
          <p:cNvSpPr>
            <a:spLocks noGrp="1"/>
          </p:cNvSpPr>
          <p:nvPr>
            <p:ph type="body" sz="quarter" idx="17" hasCustomPrompt="1"/>
          </p:nvPr>
        </p:nvSpPr>
        <p:spPr>
          <a:xfrm>
            <a:off x="394412" y="1678338"/>
            <a:ext cx="2721851" cy="1436329"/>
          </a:xfrm>
          <a:prstGeom prst="round2SameRect">
            <a:avLst>
              <a:gd name="adj1" fmla="val 8353"/>
              <a:gd name="adj2" fmla="val 0"/>
            </a:avLst>
          </a:prstGeom>
          <a:solidFill>
            <a:srgbClr val="D69ED8"/>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14" name="Text Placeholder 7">
            <a:extLst>
              <a:ext uri="{FF2B5EF4-FFF2-40B4-BE49-F238E27FC236}">
                <a16:creationId xmlns:a16="http://schemas.microsoft.com/office/drawing/2014/main" id="{5163EF44-C7E4-382A-359F-F17CC197A349}"/>
              </a:ext>
            </a:extLst>
          </p:cNvPr>
          <p:cNvSpPr>
            <a:spLocks noGrp="1"/>
          </p:cNvSpPr>
          <p:nvPr>
            <p:ph type="body" sz="quarter" idx="18"/>
          </p:nvPr>
        </p:nvSpPr>
        <p:spPr>
          <a:xfrm>
            <a:off x="39441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15" name="Footer Placeholder 60">
            <a:extLst>
              <a:ext uri="{FF2B5EF4-FFF2-40B4-BE49-F238E27FC236}">
                <a16:creationId xmlns:a16="http://schemas.microsoft.com/office/drawing/2014/main" id="{9CE55DFA-643B-597B-A6B9-ECB35FDFBCB5}"/>
              </a:ext>
            </a:extLst>
          </p:cNvPr>
          <p:cNvSpPr>
            <a:spLocks noGrp="1"/>
          </p:cNvSpPr>
          <p:nvPr>
            <p:ph type="ftr" sz="quarter" idx="3"/>
          </p:nvPr>
        </p:nvSpPr>
        <p:spPr>
          <a:xfrm>
            <a:off x="396000" y="6396404"/>
            <a:ext cx="4114800" cy="100027"/>
          </a:xfrm>
          <a:prstGeom prst="rect">
            <a:avLst/>
          </a:prstGeom>
        </p:spPr>
        <p:txBody>
          <a:bodyPr vert="horz" lIns="0" tIns="0" rIns="0" bIns="0" rtlCol="0" anchor="b" anchorCtr="0">
            <a:spAutoFit/>
          </a:bodyPr>
          <a:lstStyle>
            <a:lvl1pPr algn="l">
              <a:defRPr sz="650">
                <a:solidFill>
                  <a:schemeClr val="tx1"/>
                </a:solidFill>
                <a:latin typeface="+mn-lt"/>
              </a:defRPr>
            </a:lvl1pPr>
          </a:lstStyle>
          <a:p>
            <a:r>
              <a:rPr lang="en-US"/>
              <a:t>CMO Asia  |  Classified as Microsoft Confidential</a:t>
            </a:r>
          </a:p>
        </p:txBody>
      </p:sp>
      <p:sp>
        <p:nvSpPr>
          <p:cNvPr id="16" name="Title 1">
            <a:extLst>
              <a:ext uri="{FF2B5EF4-FFF2-40B4-BE49-F238E27FC236}">
                <a16:creationId xmlns:a16="http://schemas.microsoft.com/office/drawing/2014/main" id="{BBD439AA-199E-84E5-3F0C-AC83E910EF66}"/>
              </a:ext>
            </a:extLst>
          </p:cNvPr>
          <p:cNvSpPr>
            <a:spLocks noGrp="1"/>
          </p:cNvSpPr>
          <p:nvPr>
            <p:ph type="title"/>
          </p:nvPr>
        </p:nvSpPr>
        <p:spPr>
          <a:xfrm>
            <a:off x="397872" y="343960"/>
            <a:ext cx="11400001" cy="498598"/>
          </a:xfrm>
        </p:spPr>
        <p:txBody>
          <a:bodyPr/>
          <a:lstStyle>
            <a:lvl1pPr>
              <a:lnSpc>
                <a:spcPct val="90000"/>
              </a:lnSpc>
              <a:defRPr sz="3600">
                <a:solidFill>
                  <a:schemeClr val="tx1"/>
                </a:solidFill>
                <a:latin typeface="+mn-lt"/>
              </a:defRPr>
            </a:lvl1pPr>
          </a:lstStyle>
          <a:p>
            <a:r>
              <a:rPr lang="en-US"/>
              <a:t>Click to edit Master title style</a:t>
            </a:r>
          </a:p>
        </p:txBody>
      </p:sp>
      <p:sp>
        <p:nvSpPr>
          <p:cNvPr id="17" name="Text Placeholder 3">
            <a:extLst>
              <a:ext uri="{FF2B5EF4-FFF2-40B4-BE49-F238E27FC236}">
                <a16:creationId xmlns:a16="http://schemas.microsoft.com/office/drawing/2014/main" id="{A45CA516-48FF-D7B5-E72D-0D08383591C9}"/>
              </a:ext>
            </a:extLst>
          </p:cNvPr>
          <p:cNvSpPr>
            <a:spLocks noGrp="1"/>
          </p:cNvSpPr>
          <p:nvPr>
            <p:ph type="body" sz="quarter" idx="10" hasCustomPrompt="1"/>
          </p:nvPr>
        </p:nvSpPr>
        <p:spPr>
          <a:xfrm>
            <a:off x="394411" y="1113739"/>
            <a:ext cx="11400001" cy="215444"/>
          </a:xfrm>
        </p:spPr>
        <p:txBody>
          <a:bodyPr wrap="square">
            <a:spAutoFit/>
          </a:bodyPr>
          <a:lstStyle>
            <a:lvl1pPr marL="0" indent="0">
              <a:lnSpc>
                <a:spcPct val="100000"/>
              </a:lnSpc>
              <a:spcBef>
                <a:spcPts val="0"/>
              </a:spcBef>
              <a:buNone/>
              <a:defRPr sz="1400">
                <a:solidFill>
                  <a:schemeClr val="tx1"/>
                </a:solidFill>
              </a:defRPr>
            </a:lvl1pPr>
            <a:lvl2pPr marL="228600" indent="0">
              <a:lnSpc>
                <a:spcPct val="90000"/>
              </a:lnSpc>
              <a:spcBef>
                <a:spcPts val="0"/>
              </a:spcBef>
              <a:buNone/>
              <a:defRPr/>
            </a:lvl2pPr>
            <a:lvl3pPr marL="457200" indent="0">
              <a:lnSpc>
                <a:spcPct val="90000"/>
              </a:lnSpc>
              <a:spcBef>
                <a:spcPts val="0"/>
              </a:spcBef>
              <a:buNone/>
              <a:defRPr/>
            </a:lvl3pPr>
            <a:lvl4pPr marL="685800" indent="0">
              <a:lnSpc>
                <a:spcPct val="90000"/>
              </a:lnSpc>
              <a:spcBef>
                <a:spcPts val="0"/>
              </a:spcBef>
              <a:buNone/>
              <a:defRPr/>
            </a:lvl4pPr>
            <a:lvl5pPr marL="914400" indent="0">
              <a:lnSpc>
                <a:spcPct val="90000"/>
              </a:lnSpc>
              <a:spcBef>
                <a:spcPts val="0"/>
              </a:spcBef>
              <a:buNone/>
              <a:defRPr/>
            </a:lvl5pPr>
          </a:lstStyle>
          <a:p>
            <a:pPr lvl="0"/>
            <a:r>
              <a:rPr lang="en-GB"/>
              <a:t>Click to add subheading or overview text</a:t>
            </a:r>
            <a:endParaRPr lang="en-US"/>
          </a:p>
        </p:txBody>
      </p:sp>
      <p:sp>
        <p:nvSpPr>
          <p:cNvPr id="24" name="Text Placeholder 11">
            <a:extLst>
              <a:ext uri="{FF2B5EF4-FFF2-40B4-BE49-F238E27FC236}">
                <a16:creationId xmlns:a16="http://schemas.microsoft.com/office/drawing/2014/main" id="{1A330DEB-F9AA-9BB7-FD78-5F2EBE849E66}"/>
              </a:ext>
            </a:extLst>
          </p:cNvPr>
          <p:cNvSpPr>
            <a:spLocks noGrp="1"/>
          </p:cNvSpPr>
          <p:nvPr>
            <p:ph type="body" sz="quarter" idx="19" hasCustomPrompt="1"/>
          </p:nvPr>
        </p:nvSpPr>
        <p:spPr>
          <a:xfrm>
            <a:off x="3288282" y="1678338"/>
            <a:ext cx="2721851" cy="1436329"/>
          </a:xfrm>
          <a:prstGeom prst="round2SameRect">
            <a:avLst>
              <a:gd name="adj1" fmla="val 8353"/>
              <a:gd name="adj2" fmla="val 0"/>
            </a:avLst>
          </a:prstGeom>
          <a:solidFill>
            <a:srgbClr val="FFD872"/>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5" name="Text Placeholder 7">
            <a:extLst>
              <a:ext uri="{FF2B5EF4-FFF2-40B4-BE49-F238E27FC236}">
                <a16:creationId xmlns:a16="http://schemas.microsoft.com/office/drawing/2014/main" id="{055BDF30-1130-725D-8BB7-88D156C66FB7}"/>
              </a:ext>
            </a:extLst>
          </p:cNvPr>
          <p:cNvSpPr>
            <a:spLocks noGrp="1"/>
          </p:cNvSpPr>
          <p:nvPr>
            <p:ph type="body" sz="quarter" idx="20"/>
          </p:nvPr>
        </p:nvSpPr>
        <p:spPr>
          <a:xfrm>
            <a:off x="328828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26" name="Text Placeholder 11">
            <a:extLst>
              <a:ext uri="{FF2B5EF4-FFF2-40B4-BE49-F238E27FC236}">
                <a16:creationId xmlns:a16="http://schemas.microsoft.com/office/drawing/2014/main" id="{45482556-609A-D6C5-7DB5-5619D26C450E}"/>
              </a:ext>
            </a:extLst>
          </p:cNvPr>
          <p:cNvSpPr>
            <a:spLocks noGrp="1"/>
          </p:cNvSpPr>
          <p:nvPr>
            <p:ph type="body" sz="quarter" idx="21" hasCustomPrompt="1"/>
          </p:nvPr>
        </p:nvSpPr>
        <p:spPr>
          <a:xfrm>
            <a:off x="6182152" y="1678338"/>
            <a:ext cx="2721851" cy="1436329"/>
          </a:xfrm>
          <a:prstGeom prst="round2SameRect">
            <a:avLst>
              <a:gd name="adj1" fmla="val 8353"/>
              <a:gd name="adj2" fmla="val 0"/>
            </a:avLst>
          </a:prstGeom>
          <a:solidFill>
            <a:srgbClr val="FFA38B"/>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7" name="Text Placeholder 7">
            <a:extLst>
              <a:ext uri="{FF2B5EF4-FFF2-40B4-BE49-F238E27FC236}">
                <a16:creationId xmlns:a16="http://schemas.microsoft.com/office/drawing/2014/main" id="{433D4870-CCD4-9799-6BE4-AAB014EB9BF7}"/>
              </a:ext>
            </a:extLst>
          </p:cNvPr>
          <p:cNvSpPr>
            <a:spLocks noGrp="1"/>
          </p:cNvSpPr>
          <p:nvPr>
            <p:ph type="body" sz="quarter" idx="22"/>
          </p:nvPr>
        </p:nvSpPr>
        <p:spPr>
          <a:xfrm>
            <a:off x="618215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28" name="Text Placeholder 11">
            <a:extLst>
              <a:ext uri="{FF2B5EF4-FFF2-40B4-BE49-F238E27FC236}">
                <a16:creationId xmlns:a16="http://schemas.microsoft.com/office/drawing/2014/main" id="{7713ADA5-2884-E7DD-73F5-1093E650B97F}"/>
              </a:ext>
            </a:extLst>
          </p:cNvPr>
          <p:cNvSpPr>
            <a:spLocks noGrp="1"/>
          </p:cNvSpPr>
          <p:nvPr>
            <p:ph type="body" sz="quarter" idx="23" hasCustomPrompt="1"/>
          </p:nvPr>
        </p:nvSpPr>
        <p:spPr>
          <a:xfrm>
            <a:off x="9076022" y="1678338"/>
            <a:ext cx="2721851" cy="1436329"/>
          </a:xfrm>
          <a:prstGeom prst="round2SameRect">
            <a:avLst>
              <a:gd name="adj1" fmla="val 8353"/>
              <a:gd name="adj2" fmla="val 0"/>
            </a:avLst>
          </a:prstGeom>
          <a:solidFill>
            <a:srgbClr val="8DC8E8"/>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9" name="Text Placeholder 7">
            <a:extLst>
              <a:ext uri="{FF2B5EF4-FFF2-40B4-BE49-F238E27FC236}">
                <a16:creationId xmlns:a16="http://schemas.microsoft.com/office/drawing/2014/main" id="{7229DE9D-56BD-A15B-4390-3AB472712910}"/>
              </a:ext>
            </a:extLst>
          </p:cNvPr>
          <p:cNvSpPr>
            <a:spLocks noGrp="1"/>
          </p:cNvSpPr>
          <p:nvPr>
            <p:ph type="body" sz="quarter" idx="24"/>
          </p:nvPr>
        </p:nvSpPr>
        <p:spPr>
          <a:xfrm>
            <a:off x="907602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21285093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1968112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FFFF_30DD676.xml"/><Relationship Id="rId2" Type="http://schemas.openxmlformats.org/officeDocument/2006/relationships/notesSlide" Target="../notesSlides/notesSlide2.xml"/><Relationship Id="rId1" Type="http://schemas.openxmlformats.org/officeDocument/2006/relationships/slideLayout" Target="../slideLayouts/slideLayout36.xml"/><Relationship Id="rId5" Type="http://schemas.openxmlformats.org/officeDocument/2006/relationships/image" Target="../media/image45.svg"/><Relationship Id="rId4" Type="http://schemas.openxmlformats.org/officeDocument/2006/relationships/image" Target="../media/image44.svg"/></Relationships>
</file>

<file path=ppt/slides/_rels/slide4.xml.rels><?xml version="1.0" encoding="UTF-8" standalone="yes"?>
<Relationships xmlns="http://schemas.openxmlformats.org/package/2006/relationships"><Relationship Id="rId8" Type="http://schemas.openxmlformats.org/officeDocument/2006/relationships/hyperlink" Target="https://build.microsoft.com/en-US/sessions/BRK206?source=sessions" TargetMode="External"/><Relationship Id="rId13" Type="http://schemas.openxmlformats.org/officeDocument/2006/relationships/hyperlink" Target="https://aka.ms/build26/BRK222" TargetMode="External"/><Relationship Id="rId3" Type="http://schemas.openxmlformats.org/officeDocument/2006/relationships/hyperlink" Target="https://aka.ms/build26/BRK207" TargetMode="External"/><Relationship Id="rId7" Type="http://schemas.openxmlformats.org/officeDocument/2006/relationships/hyperlink" Target="https://aka.ms/build26/BRK206" TargetMode="External"/><Relationship Id="rId12" Type="http://schemas.openxmlformats.org/officeDocument/2006/relationships/hyperlink" Target="https://build.microsoft.com/en-US/sessions/BRK221?source=sessions" TargetMode="External"/><Relationship Id="rId2" Type="http://schemas.openxmlformats.org/officeDocument/2006/relationships/notesSlide" Target="../notesSlides/notesSlide3.xml"/><Relationship Id="rId16" Type="http://schemas.openxmlformats.org/officeDocument/2006/relationships/hyperlink" Target="https://build.microsoft.com/en-US/sessions/BRK223?source=sessions" TargetMode="External"/><Relationship Id="rId1" Type="http://schemas.openxmlformats.org/officeDocument/2006/relationships/slideLayout" Target="../slideLayouts/slideLayout45.xml"/><Relationship Id="rId6" Type="http://schemas.openxmlformats.org/officeDocument/2006/relationships/hyperlink" Target="https://build.microsoft.com/en-US/sessions/BRK203?source=sessions" TargetMode="External"/><Relationship Id="rId11" Type="http://schemas.openxmlformats.org/officeDocument/2006/relationships/hyperlink" Target="https://aka.ms/build26/BRK221" TargetMode="External"/><Relationship Id="rId5" Type="http://schemas.openxmlformats.org/officeDocument/2006/relationships/hyperlink" Target="https://aka.ms/build26/BRK203" TargetMode="External"/><Relationship Id="rId15" Type="http://schemas.openxmlformats.org/officeDocument/2006/relationships/hyperlink" Target="https://aka.ms/build26/BRK223" TargetMode="External"/><Relationship Id="rId10" Type="http://schemas.openxmlformats.org/officeDocument/2006/relationships/hyperlink" Target="https://build.microsoft.com/en-US/sessions/LAB501?source=sessions" TargetMode="External"/><Relationship Id="rId4" Type="http://schemas.openxmlformats.org/officeDocument/2006/relationships/hyperlink" Target="https://build.microsoft.com/en-US/sessions/BRK207?source=sessions" TargetMode="External"/><Relationship Id="rId9" Type="http://schemas.openxmlformats.org/officeDocument/2006/relationships/hyperlink" Target="https://aka.ms/build26/LAB501" TargetMode="External"/><Relationship Id="rId14" Type="http://schemas.openxmlformats.org/officeDocument/2006/relationships/hyperlink" Target="https://build.microsoft.com/en-US/sessions/BRK222?source=sessions"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build.microsoft.com/en-US/sessions/BRK243?source=sessions" TargetMode="External"/><Relationship Id="rId13" Type="http://schemas.openxmlformats.org/officeDocument/2006/relationships/hyperlink" Target="https://aka.ms/build26/LAB520" TargetMode="External"/><Relationship Id="rId18" Type="http://schemas.openxmlformats.org/officeDocument/2006/relationships/hyperlink" Target="https://build.microsoft.com/en-US/sessions/LAB540?source=sessions" TargetMode="External"/><Relationship Id="rId3" Type="http://schemas.openxmlformats.org/officeDocument/2006/relationships/hyperlink" Target="https://aka.ms/build26/BRK240" TargetMode="External"/><Relationship Id="rId7" Type="http://schemas.openxmlformats.org/officeDocument/2006/relationships/hyperlink" Target="https://aka.ms/build26/BRK243" TargetMode="External"/><Relationship Id="rId12" Type="http://schemas.openxmlformats.org/officeDocument/2006/relationships/hyperlink" Target="https://build.microsoft.com/en-US/sessions/BRK231?source=sessions" TargetMode="External"/><Relationship Id="rId17" Type="http://schemas.openxmlformats.org/officeDocument/2006/relationships/hyperlink" Target="https://aka.ms/build26/LAB540" TargetMode="External"/><Relationship Id="rId2" Type="http://schemas.openxmlformats.org/officeDocument/2006/relationships/notesSlide" Target="../notesSlides/notesSlide4.xml"/><Relationship Id="rId16" Type="http://schemas.openxmlformats.org/officeDocument/2006/relationships/hyperlink" Target="https://build.microsoft.com/en-US/sessions/BRK252?source=sessions" TargetMode="External"/><Relationship Id="rId1" Type="http://schemas.openxmlformats.org/officeDocument/2006/relationships/slideLayout" Target="../slideLayouts/slideLayout45.xml"/><Relationship Id="rId6" Type="http://schemas.openxmlformats.org/officeDocument/2006/relationships/hyperlink" Target="https://build.microsoft.com/en-US/sessions/BRK241?source=sessions" TargetMode="External"/><Relationship Id="rId11" Type="http://schemas.openxmlformats.org/officeDocument/2006/relationships/hyperlink" Target="https://aka.ms/build26/BRK231" TargetMode="External"/><Relationship Id="rId5" Type="http://schemas.openxmlformats.org/officeDocument/2006/relationships/hyperlink" Target="https://aka.ms/build26/BRK241" TargetMode="External"/><Relationship Id="rId15" Type="http://schemas.openxmlformats.org/officeDocument/2006/relationships/hyperlink" Target="https://aka.ms/build26/BRK252" TargetMode="External"/><Relationship Id="rId10" Type="http://schemas.openxmlformats.org/officeDocument/2006/relationships/hyperlink" Target="https://build.microsoft.com/en-US/sessions/BRK230?source=sessions" TargetMode="External"/><Relationship Id="rId4" Type="http://schemas.openxmlformats.org/officeDocument/2006/relationships/hyperlink" Target="https://build.microsoft.com/en-US/sessions/BRK240?source=sessions" TargetMode="External"/><Relationship Id="rId9" Type="http://schemas.openxmlformats.org/officeDocument/2006/relationships/hyperlink" Target="https://aka.ms/build26/BRK230" TargetMode="External"/><Relationship Id="rId14" Type="http://schemas.openxmlformats.org/officeDocument/2006/relationships/hyperlink" Target="https://build.microsoft.com/en-US/sessions/LAB520?source=sess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9618" y="2102876"/>
            <a:ext cx="8504382" cy="2215991"/>
          </a:xfrm>
        </p:spPr>
        <p:txBody>
          <a:bodyPr/>
          <a:lstStyle/>
          <a:p>
            <a:r>
              <a:rPr lang="en-US" sz="5400" dirty="0">
                <a:latin typeface="Segoe Sans Display Semibold"/>
                <a:cs typeface="Segoe Sans Display Semibold"/>
              </a:rPr>
              <a:t>Microsoft Build //localhost</a:t>
            </a:r>
            <a:br>
              <a:rPr lang="en-US" sz="5400" dirty="0">
                <a:latin typeface="Segoe Sans Display Semibold"/>
                <a:cs typeface="Segoe Sans Display Semibold"/>
              </a:rPr>
            </a:br>
            <a:br>
              <a:rPr lang="en-US" sz="5400" dirty="0">
                <a:latin typeface="Segoe Sans Display Semibold"/>
                <a:cs typeface="Segoe Sans Display Semibold"/>
              </a:rPr>
            </a:br>
            <a:r>
              <a:rPr lang="en-US" sz="3200" dirty="0">
                <a:latin typeface="Segoe Sans Display Semibold"/>
                <a:cs typeface="Segoe Sans Display Semibold"/>
              </a:rPr>
              <a:t>Content for Event Hosts</a:t>
            </a:r>
            <a:endParaRPr lang="en-US" sz="5400" dirty="0">
              <a:latin typeface="Segoe Sans Display Semibold"/>
              <a:cs typeface="Segoe Sans Display Semibold"/>
            </a:endParaRPr>
          </a:p>
        </p:txBody>
      </p:sp>
    </p:spTree>
    <p:extLst>
      <p:ext uri="{BB962C8B-B14F-4D97-AF65-F5344CB8AC3E}">
        <p14:creationId xmlns:p14="http://schemas.microsoft.com/office/powerpoint/2010/main" val="397498445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7CAF2E1-4E90-D745-7A24-2E6711BF5B49}"/>
              </a:ext>
            </a:extLst>
          </p:cNvPr>
          <p:cNvSpPr>
            <a:spLocks noGrp="1"/>
          </p:cNvSpPr>
          <p:nvPr>
            <p:ph type="title"/>
          </p:nvPr>
        </p:nvSpPr>
        <p:spPr/>
        <p:txBody>
          <a:bodyPr/>
          <a:lstStyle/>
          <a:p>
            <a:r>
              <a:rPr lang="en-US"/>
              <a:t>Content Strategy</a:t>
            </a:r>
          </a:p>
        </p:txBody>
      </p:sp>
    </p:spTree>
    <p:extLst>
      <p:ext uri="{BB962C8B-B14F-4D97-AF65-F5344CB8AC3E}">
        <p14:creationId xmlns:p14="http://schemas.microsoft.com/office/powerpoint/2010/main" val="297524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3EF71-5ECD-EAE0-0572-D79EED344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C8D31D-88FD-E647-CB44-EDCE0E074789}"/>
              </a:ext>
            </a:extLst>
          </p:cNvPr>
          <p:cNvSpPr>
            <a:spLocks noGrp="1"/>
          </p:cNvSpPr>
          <p:nvPr>
            <p:ph type="title"/>
          </p:nvPr>
        </p:nvSpPr>
        <p:spPr>
          <a:xfrm>
            <a:off x="588263" y="216706"/>
            <a:ext cx="11018520" cy="553998"/>
          </a:xfrm>
        </p:spPr>
        <p:txBody>
          <a:bodyPr/>
          <a:lstStyle/>
          <a:p>
            <a:r>
              <a:rPr lang="en-US" b="1">
                <a:cs typeface="Segoe UI"/>
              </a:rPr>
              <a:t>Build //localhost </a:t>
            </a:r>
            <a:r>
              <a:rPr lang="en-US">
                <a:solidFill>
                  <a:schemeClr val="tx1">
                    <a:lumMod val="75000"/>
                  </a:schemeClr>
                </a:solidFill>
                <a:cs typeface="Segoe UI"/>
              </a:rPr>
              <a:t>Content Framework</a:t>
            </a:r>
            <a:endParaRPr lang="en-US">
              <a:solidFill>
                <a:schemeClr val="tx1">
                  <a:lumMod val="75000"/>
                </a:schemeClr>
              </a:solidFill>
            </a:endParaRPr>
          </a:p>
        </p:txBody>
      </p:sp>
      <p:graphicFrame>
        <p:nvGraphicFramePr>
          <p:cNvPr id="44" name="Table 43">
            <a:extLst>
              <a:ext uri="{FF2B5EF4-FFF2-40B4-BE49-F238E27FC236}">
                <a16:creationId xmlns:a16="http://schemas.microsoft.com/office/drawing/2014/main" id="{72E17BAA-F6CB-4C64-9C6A-BFB378BD3B6E}"/>
              </a:ext>
            </a:extLst>
          </p:cNvPr>
          <p:cNvGraphicFramePr>
            <a:graphicFrameLocks noGrp="1"/>
          </p:cNvGraphicFramePr>
          <p:nvPr/>
        </p:nvGraphicFramePr>
        <p:xfrm>
          <a:off x="348615" y="2160142"/>
          <a:ext cx="6583680" cy="3782036"/>
        </p:xfrm>
        <a:graphic>
          <a:graphicData uri="http://schemas.openxmlformats.org/drawingml/2006/table">
            <a:tbl>
              <a:tblPr>
                <a:tableStyleId>{BC89EF96-8CEA-46FF-86C4-4CE0E7609802}</a:tableStyleId>
              </a:tblPr>
              <a:tblGrid>
                <a:gridCol w="1097280">
                  <a:extLst>
                    <a:ext uri="{9D8B030D-6E8A-4147-A177-3AD203B41FA5}">
                      <a16:colId xmlns:a16="http://schemas.microsoft.com/office/drawing/2014/main" val="1793864745"/>
                    </a:ext>
                  </a:extLst>
                </a:gridCol>
                <a:gridCol w="3840480">
                  <a:extLst>
                    <a:ext uri="{9D8B030D-6E8A-4147-A177-3AD203B41FA5}">
                      <a16:colId xmlns:a16="http://schemas.microsoft.com/office/drawing/2014/main" val="2720574735"/>
                    </a:ext>
                  </a:extLst>
                </a:gridCol>
                <a:gridCol w="822960">
                  <a:extLst>
                    <a:ext uri="{9D8B030D-6E8A-4147-A177-3AD203B41FA5}">
                      <a16:colId xmlns:a16="http://schemas.microsoft.com/office/drawing/2014/main" val="606736781"/>
                    </a:ext>
                  </a:extLst>
                </a:gridCol>
                <a:gridCol w="822960">
                  <a:extLst>
                    <a:ext uri="{9D8B030D-6E8A-4147-A177-3AD203B41FA5}">
                      <a16:colId xmlns:a16="http://schemas.microsoft.com/office/drawing/2014/main" val="443289250"/>
                    </a:ext>
                  </a:extLst>
                </a:gridCol>
              </a:tblGrid>
              <a:tr h="183008">
                <a:tc rowSpan="2">
                  <a:txBody>
                    <a:bodyPr/>
                    <a:lstStyle/>
                    <a:p>
                      <a:pPr rtl="0">
                        <a:buNone/>
                      </a:pPr>
                      <a:r>
                        <a:rPr lang="en-US" sz="1100" b="1">
                          <a:solidFill>
                            <a:schemeClr val="tx1"/>
                          </a:solidFill>
                          <a:effectLst/>
                          <a:latin typeface="+mn-lt"/>
                        </a:rPr>
                        <a:t>Topic</a:t>
                      </a:r>
                    </a:p>
                  </a:txBody>
                  <a:tcPr marL="47851" marR="47851" anchor="ctr">
                    <a:solidFill>
                      <a:schemeClr val="accent1"/>
                    </a:solidFill>
                  </a:tcPr>
                </a:tc>
                <a:tc rowSpan="2">
                  <a:txBody>
                    <a:bodyPr/>
                    <a:lstStyle/>
                    <a:p>
                      <a:pPr rtl="0">
                        <a:buNone/>
                      </a:pPr>
                      <a:r>
                        <a:rPr lang="en-US" sz="1100" b="1">
                          <a:solidFill>
                            <a:schemeClr val="tx1"/>
                          </a:solidFill>
                          <a:effectLst/>
                          <a:latin typeface="+mn-lt"/>
                        </a:rPr>
                        <a:t>Description</a:t>
                      </a:r>
                    </a:p>
                  </a:txBody>
                  <a:tcPr marL="47851" marR="47851" anchor="ctr">
                    <a:solidFill>
                      <a:schemeClr val="accent1"/>
                    </a:solidFill>
                  </a:tcPr>
                </a:tc>
                <a:tc gridSpan="2">
                  <a:txBody>
                    <a:bodyPr/>
                    <a:lstStyle/>
                    <a:p>
                      <a:pPr algn="ctr" rtl="0">
                        <a:buNone/>
                      </a:pPr>
                      <a:r>
                        <a:rPr lang="en-US" sz="1050" b="1">
                          <a:solidFill>
                            <a:schemeClr val="tx1"/>
                          </a:solidFill>
                          <a:effectLst/>
                          <a:latin typeface="+mn-lt"/>
                        </a:rPr>
                        <a:t># of Selections</a:t>
                      </a:r>
                    </a:p>
                  </a:txBody>
                  <a:tcPr marL="0" marR="0" marT="0" marB="0" anchor="ctr">
                    <a:solidFill>
                      <a:schemeClr val="accent1"/>
                    </a:solidFill>
                  </a:tcPr>
                </a:tc>
                <a:tc hMerge="1">
                  <a:txBody>
                    <a:bodyPr/>
                    <a:lstStyle/>
                    <a:p>
                      <a:pPr rtl="0">
                        <a:buNone/>
                      </a:pPr>
                      <a:endParaRPr lang="en-US" sz="1050" b="1">
                        <a:solidFill>
                          <a:schemeClr val="tx1"/>
                        </a:solidFill>
                        <a:effectLst/>
                        <a:latin typeface="+mn-lt"/>
                      </a:endParaRPr>
                    </a:p>
                  </a:txBody>
                  <a:tcPr marL="47851" marR="47851" anchor="ctr">
                    <a:solidFill>
                      <a:schemeClr val="accent1"/>
                    </a:solidFill>
                  </a:tcPr>
                </a:tc>
                <a:extLst>
                  <a:ext uri="{0D108BD9-81ED-4DB2-BD59-A6C34878D82A}">
                    <a16:rowId xmlns:a16="http://schemas.microsoft.com/office/drawing/2014/main" val="2437382554"/>
                  </a:ext>
                </a:extLst>
              </a:tr>
              <a:tr h="190500">
                <a:tc vMerge="1">
                  <a:txBody>
                    <a:bodyPr/>
                    <a:lstStyle/>
                    <a:p>
                      <a:endParaRPr/>
                    </a:p>
                  </a:txBody>
                  <a:tcPr marL="47851" marR="47851" anchor="ctr">
                    <a:solidFill>
                      <a:schemeClr val="accent1"/>
                    </a:solidFill>
                  </a:tcPr>
                </a:tc>
                <a:tc vMerge="1">
                  <a:txBody>
                    <a:bodyPr/>
                    <a:lstStyle/>
                    <a:p>
                      <a:endParaRPr/>
                    </a:p>
                  </a:txBody>
                  <a:tcPr marL="47851" marR="47851" anchor="ctr">
                    <a:solidFill>
                      <a:schemeClr val="accent1"/>
                    </a:solidFill>
                  </a:tcPr>
                </a:tc>
                <a:tc>
                  <a:txBody>
                    <a:bodyPr/>
                    <a:lstStyle/>
                    <a:p>
                      <a:pPr algn="ctr" rtl="0">
                        <a:buNone/>
                      </a:pPr>
                      <a:r>
                        <a:rPr lang="en-US" sz="1050" b="1">
                          <a:solidFill>
                            <a:schemeClr val="tx1"/>
                          </a:solidFill>
                          <a:effectLst/>
                          <a:latin typeface="+mn-lt"/>
                        </a:rPr>
                        <a:t>Breakouts</a:t>
                      </a:r>
                    </a:p>
                  </a:txBody>
                  <a:tcPr marL="0" marR="0" marT="0" marB="0" anchor="ctr">
                    <a:solidFill>
                      <a:schemeClr val="accent1"/>
                    </a:solidFill>
                  </a:tcPr>
                </a:tc>
                <a:tc>
                  <a:txBody>
                    <a:bodyPr/>
                    <a:lstStyle/>
                    <a:p>
                      <a:pPr algn="ctr" rtl="0">
                        <a:buNone/>
                      </a:pPr>
                      <a:r>
                        <a:rPr lang="en-US" sz="1050" b="1">
                          <a:solidFill>
                            <a:schemeClr val="tx1"/>
                          </a:solidFill>
                          <a:effectLst/>
                          <a:latin typeface="+mn-lt"/>
                        </a:rPr>
                        <a:t>Labs</a:t>
                      </a:r>
                    </a:p>
                  </a:txBody>
                  <a:tcPr marL="0" marR="0" marT="0" marB="0" anchor="ctr">
                    <a:solidFill>
                      <a:schemeClr val="accent1"/>
                    </a:solidFill>
                  </a:tcPr>
                </a:tc>
                <a:extLst>
                  <a:ext uri="{0D108BD9-81ED-4DB2-BD59-A6C34878D82A}">
                    <a16:rowId xmlns:a16="http://schemas.microsoft.com/office/drawing/2014/main" val="3631172213"/>
                  </a:ext>
                </a:extLst>
              </a:tr>
              <a:tr h="949518">
                <a:tc>
                  <a:txBody>
                    <a:bodyPr/>
                    <a:lstStyle/>
                    <a:p>
                      <a:pPr rtl="0">
                        <a:buNone/>
                      </a:pPr>
                      <a:r>
                        <a:rPr lang="en-US" sz="1050" b="1">
                          <a:solidFill>
                            <a:schemeClr val="bg1"/>
                          </a:solidFill>
                          <a:effectLst/>
                          <a:latin typeface="+mn-lt"/>
                        </a:rPr>
                        <a:t>Developer Tools &amp; Frameworks</a:t>
                      </a:r>
                    </a:p>
                  </a:txBody>
                  <a:tcPr anchor="ctr">
                    <a:solidFill>
                      <a:srgbClr val="FFF8F3"/>
                    </a:solidFill>
                  </a:tcPr>
                </a:tc>
                <a:tc>
                  <a:txBody>
                    <a:bodyPr/>
                    <a:lstStyle/>
                    <a:p>
                      <a:pPr lvl="0" algn="l">
                        <a:lnSpc>
                          <a:spcPct val="100000"/>
                        </a:lnSpc>
                        <a:spcBef>
                          <a:spcPts val="0"/>
                        </a:spcBef>
                        <a:spcAft>
                          <a:spcPts val="0"/>
                        </a:spcAft>
                        <a:buNone/>
                      </a:pPr>
                      <a:r>
                        <a:rPr lang="en-US" sz="1000" b="0" i="0" u="none" strike="noStrike" noProof="0">
                          <a:solidFill>
                            <a:schemeClr val="bg1"/>
                          </a:solidFill>
                          <a:latin typeface="+mn-lt"/>
                          <a:cs typeface="Segoe UI"/>
                        </a:rPr>
                        <a:t>Developers using AI to build across the SDLC. Focuses on using coding agents, personalizing developer workflows, reviewing and securing the new volume of code, and integrating LLM inference across a variety of open source &amp; proprietary frameworks like Next.js, Python, .NET, Java, and more.</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noProof="0">
                          <a:solidFill>
                            <a:schemeClr val="bg1"/>
                          </a:solidFill>
                          <a:latin typeface="+mn-lt"/>
                          <a:cs typeface="Segoe UI"/>
                        </a:rPr>
                        <a:t>3</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noProof="0">
                          <a:solidFill>
                            <a:schemeClr val="bg1"/>
                          </a:solidFill>
                          <a:latin typeface="+mn-lt"/>
                          <a:cs typeface="Segoe UI"/>
                        </a:rPr>
                        <a:t>1</a:t>
                      </a:r>
                    </a:p>
                  </a:txBody>
                  <a:tcPr anchor="ctr">
                    <a:solidFill>
                      <a:srgbClr val="FFF8F3"/>
                    </a:solidFill>
                  </a:tcPr>
                </a:tc>
                <a:extLst>
                  <a:ext uri="{0D108BD9-81ED-4DB2-BD59-A6C34878D82A}">
                    <a16:rowId xmlns:a16="http://schemas.microsoft.com/office/drawing/2014/main" val="3827820704"/>
                  </a:ext>
                </a:extLst>
              </a:tr>
              <a:tr h="633012">
                <a:tc>
                  <a:txBody>
                    <a:bodyPr/>
                    <a:lstStyle/>
                    <a:p>
                      <a:pPr rtl="0">
                        <a:buNone/>
                      </a:pPr>
                      <a:r>
                        <a:rPr lang="en-US" sz="1050" b="1">
                          <a:solidFill>
                            <a:schemeClr val="bg1"/>
                          </a:solidFill>
                          <a:effectLst/>
                          <a:latin typeface="+mn-lt"/>
                        </a:rPr>
                        <a:t>Cloud Platform &amp; Data</a:t>
                      </a:r>
                    </a:p>
                  </a:txBody>
                  <a:tcPr anchor="ctr">
                    <a:solidFill>
                      <a:srgbClr val="FFF8F3"/>
                    </a:solidFill>
                  </a:tcPr>
                </a:tc>
                <a:tc>
                  <a:txBody>
                    <a:bodyPr/>
                    <a:lstStyle/>
                    <a:p>
                      <a:pPr marL="0" indent="0" algn="l" defTabSz="914400" rtl="0" eaLnBrk="1" latinLnBrk="0" hangingPunct="1">
                        <a:spcAft>
                          <a:spcPts val="0"/>
                        </a:spcAft>
                        <a:buFont typeface="Arial" panose="020B0604020202020204" pitchFamily="34" charset="0"/>
                        <a:buNone/>
                      </a:pPr>
                      <a:r>
                        <a:rPr lang="en-US" sz="1000" kern="1200">
                          <a:solidFill>
                            <a:schemeClr val="bg1"/>
                          </a:solidFill>
                          <a:effectLst/>
                          <a:latin typeface="+mn-lt"/>
                          <a:ea typeface="+mn-ea"/>
                          <a:cs typeface="+mn-cs"/>
                        </a:rPr>
                        <a:t>The cloud foundations developers build on—from infrastructure, to data, to platform services—that power modern applications and AI workloads.</a:t>
                      </a:r>
                      <a:endParaRPr lang="en-US" sz="1000" kern="1200">
                        <a:solidFill>
                          <a:schemeClr val="bg1"/>
                        </a:solidFill>
                        <a:effectLst/>
                        <a:highlight>
                          <a:srgbClr val="FFFF00"/>
                        </a:highlight>
                        <a:latin typeface="+mn-lt"/>
                        <a:ea typeface="+mn-ea"/>
                        <a:cs typeface="+mn-cs"/>
                      </a:endParaRPr>
                    </a:p>
                  </a:txBody>
                  <a:tcPr anchor="ctr">
                    <a:solidFill>
                      <a:srgbClr val="FFF8F3"/>
                    </a:solidFill>
                  </a:tcPr>
                </a:tc>
                <a:tc>
                  <a:txBody>
                    <a:bodyPr/>
                    <a:lstStyle/>
                    <a:p>
                      <a:pPr marL="0" indent="0" algn="ctr" defTabSz="914400" rtl="0" eaLnBrk="1" latinLnBrk="0" hangingPunct="1">
                        <a:spcAft>
                          <a:spcPts val="0"/>
                        </a:spcAft>
                        <a:buFont typeface="Arial" panose="020B0604020202020204" pitchFamily="34" charset="0"/>
                        <a:buNone/>
                      </a:pPr>
                      <a:r>
                        <a:rPr lang="en-US" sz="1000" kern="1200">
                          <a:solidFill>
                            <a:schemeClr val="bg1"/>
                          </a:solidFill>
                          <a:effectLst/>
                          <a:latin typeface="+mn-lt"/>
                          <a:ea typeface="+mn-ea"/>
                          <a:cs typeface="+mn-cs"/>
                        </a:rPr>
                        <a:t>3</a:t>
                      </a:r>
                    </a:p>
                  </a:txBody>
                  <a:tcPr anchor="ctr">
                    <a:solidFill>
                      <a:srgbClr val="FFF8F3"/>
                    </a:solidFill>
                  </a:tcPr>
                </a:tc>
                <a:tc>
                  <a:txBody>
                    <a:bodyPr/>
                    <a:lstStyle/>
                    <a:p>
                      <a:pPr marL="0" indent="0" algn="ctr" defTabSz="914400" rtl="0" eaLnBrk="1" latinLnBrk="0" hangingPunct="1">
                        <a:spcAft>
                          <a:spcPts val="0"/>
                        </a:spcAft>
                        <a:buFont typeface="Arial" panose="020B0604020202020204" pitchFamily="34" charset="0"/>
                        <a:buNone/>
                      </a:pPr>
                      <a:r>
                        <a:rPr lang="en-US" sz="1000" kern="1200">
                          <a:solidFill>
                            <a:schemeClr val="bg1"/>
                          </a:solidFill>
                          <a:effectLst/>
                          <a:latin typeface="+mn-lt"/>
                          <a:ea typeface="+mn-ea"/>
                          <a:cs typeface="+mn-cs"/>
                        </a:rPr>
                        <a:t>0</a:t>
                      </a:r>
                    </a:p>
                  </a:txBody>
                  <a:tcPr anchor="ctr">
                    <a:solidFill>
                      <a:srgbClr val="FFF8F3"/>
                    </a:solidFill>
                  </a:tcPr>
                </a:tc>
                <a:extLst>
                  <a:ext uri="{0D108BD9-81ED-4DB2-BD59-A6C34878D82A}">
                    <a16:rowId xmlns:a16="http://schemas.microsoft.com/office/drawing/2014/main" val="1553336084"/>
                  </a:ext>
                </a:extLst>
              </a:tr>
              <a:tr h="608666">
                <a:tc>
                  <a:txBody>
                    <a:bodyPr/>
                    <a:lstStyle/>
                    <a:p>
                      <a:pPr rtl="0">
                        <a:buNone/>
                      </a:pPr>
                      <a:r>
                        <a:rPr lang="en-US" sz="1050" b="1">
                          <a:solidFill>
                            <a:schemeClr val="bg1"/>
                          </a:solidFill>
                          <a:effectLst/>
                          <a:latin typeface="+mn-lt"/>
                        </a:rPr>
                        <a:t>Working with Models</a:t>
                      </a:r>
                    </a:p>
                  </a:txBody>
                  <a:tcPr anchor="ctr">
                    <a:solidFill>
                      <a:srgbClr val="FFF8F3"/>
                    </a:solidFill>
                  </a:tcPr>
                </a:tc>
                <a:tc>
                  <a:txBody>
                    <a:bodyPr/>
                    <a:lstStyle/>
                    <a:p>
                      <a:pPr lvl="0" algn="l">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Developers and data scientists looking to make AI work for them focusing on fine-tuning, reinforcement training, evals, </a:t>
                      </a:r>
                      <a:r>
                        <a:rPr lang="en-US" sz="1000" b="0" i="0" u="none" strike="noStrike" kern="1200" noProof="0" err="1">
                          <a:solidFill>
                            <a:schemeClr val="bg1"/>
                          </a:solidFill>
                          <a:effectLst/>
                          <a:latin typeface="+mn-lt"/>
                          <a:ea typeface="+mn-ea"/>
                          <a:cs typeface="Segoe UI"/>
                        </a:rPr>
                        <a:t>PyTorch</a:t>
                      </a:r>
                      <a:r>
                        <a:rPr lang="en-US" sz="1000" b="0" i="0" u="none" strike="noStrike" kern="1200" noProof="0">
                          <a:solidFill>
                            <a:schemeClr val="bg1"/>
                          </a:solidFill>
                          <a:effectLst/>
                          <a:latin typeface="+mn-lt"/>
                          <a:ea typeface="+mn-ea"/>
                          <a:cs typeface="Segoe UI"/>
                        </a:rPr>
                        <a:t>, TensorFlow, and more.</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2</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1</a:t>
                      </a:r>
                    </a:p>
                  </a:txBody>
                  <a:tcPr anchor="ctr">
                    <a:solidFill>
                      <a:srgbClr val="FFF8F3"/>
                    </a:solidFill>
                  </a:tcPr>
                </a:tc>
                <a:extLst>
                  <a:ext uri="{0D108BD9-81ED-4DB2-BD59-A6C34878D82A}">
                    <a16:rowId xmlns:a16="http://schemas.microsoft.com/office/drawing/2014/main" val="455412596"/>
                  </a:ext>
                </a:extLst>
              </a:tr>
              <a:tr h="608666">
                <a:tc>
                  <a:txBody>
                    <a:bodyPr/>
                    <a:lstStyle/>
                    <a:p>
                      <a:pPr rtl="0">
                        <a:buNone/>
                      </a:pPr>
                      <a:r>
                        <a:rPr lang="en-US" sz="1050" b="1">
                          <a:solidFill>
                            <a:schemeClr val="bg1"/>
                          </a:solidFill>
                          <a:effectLst/>
                          <a:latin typeface="+mn-lt"/>
                        </a:rPr>
                        <a:t>Agents &amp; Apps </a:t>
                      </a:r>
                    </a:p>
                  </a:txBody>
                  <a:tcPr anchor="ctr">
                    <a:solidFill>
                      <a:srgbClr val="FFF8F3"/>
                    </a:solidFill>
                  </a:tcPr>
                </a:tc>
                <a:tc>
                  <a:txBody>
                    <a:bodyPr/>
                    <a:lstStyle/>
                    <a:p>
                      <a:pPr lvl="0" algn="l">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Build applications and agents from single prompt to agent framework for developers who are building for task to building for scale and doing both with security in mind.</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3</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0</a:t>
                      </a:r>
                    </a:p>
                  </a:txBody>
                  <a:tcPr anchor="ctr">
                    <a:solidFill>
                      <a:srgbClr val="FFF8F3"/>
                    </a:solidFill>
                  </a:tcPr>
                </a:tc>
                <a:extLst>
                  <a:ext uri="{0D108BD9-81ED-4DB2-BD59-A6C34878D82A}">
                    <a16:rowId xmlns:a16="http://schemas.microsoft.com/office/drawing/2014/main" val="389878930"/>
                  </a:ext>
                </a:extLst>
              </a:tr>
              <a:tr h="608666">
                <a:tc>
                  <a:txBody>
                    <a:bodyPr/>
                    <a:lstStyle/>
                    <a:p>
                      <a:pPr rtl="0">
                        <a:buNone/>
                      </a:pPr>
                      <a:r>
                        <a:rPr lang="en-US" sz="1050" b="1">
                          <a:solidFill>
                            <a:schemeClr val="bg1"/>
                          </a:solidFill>
                          <a:effectLst/>
                          <a:latin typeface="+mn-lt"/>
                        </a:rPr>
                        <a:t>Responsible AI</a:t>
                      </a:r>
                    </a:p>
                  </a:txBody>
                  <a:tcPr anchor="ctr">
                    <a:solidFill>
                      <a:srgbClr val="FFF8F3"/>
                    </a:solidFill>
                  </a:tcPr>
                </a:tc>
                <a:tc>
                  <a:txBody>
                    <a:bodyPr/>
                    <a:lstStyle/>
                    <a:p>
                      <a:pPr lvl="0" algn="l">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Building trustworthy, secure, and responsible AI systems. This topic reinforces Microsoft’s leadership in helping developers ship AI that is safe, compliant, and resilient by design.</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1</a:t>
                      </a:r>
                    </a:p>
                  </a:txBody>
                  <a:tcPr anchor="ctr">
                    <a:solidFill>
                      <a:srgbClr val="FFF8F3"/>
                    </a:solidFill>
                  </a:tcPr>
                </a:tc>
                <a:tc>
                  <a:txBody>
                    <a:bodyPr/>
                    <a:lstStyle/>
                    <a:p>
                      <a:pPr lvl="0" algn="ctr">
                        <a:lnSpc>
                          <a:spcPct val="100000"/>
                        </a:lnSpc>
                        <a:spcBef>
                          <a:spcPts val="0"/>
                        </a:spcBef>
                        <a:spcAft>
                          <a:spcPts val="0"/>
                        </a:spcAft>
                        <a:buNone/>
                      </a:pPr>
                      <a:r>
                        <a:rPr lang="en-US" sz="1000" b="0" i="0" u="none" strike="noStrike" kern="1200" noProof="0">
                          <a:solidFill>
                            <a:schemeClr val="bg1"/>
                          </a:solidFill>
                          <a:effectLst/>
                          <a:latin typeface="+mn-lt"/>
                          <a:ea typeface="+mn-ea"/>
                          <a:cs typeface="Segoe UI"/>
                        </a:rPr>
                        <a:t>1</a:t>
                      </a:r>
                    </a:p>
                  </a:txBody>
                  <a:tcPr anchor="ctr">
                    <a:solidFill>
                      <a:srgbClr val="FFF8F3"/>
                    </a:solidFill>
                  </a:tcPr>
                </a:tc>
                <a:extLst>
                  <a:ext uri="{0D108BD9-81ED-4DB2-BD59-A6C34878D82A}">
                    <a16:rowId xmlns:a16="http://schemas.microsoft.com/office/drawing/2014/main" val="3939675973"/>
                  </a:ext>
                </a:extLst>
              </a:tr>
            </a:tbl>
          </a:graphicData>
        </a:graphic>
      </p:graphicFrame>
      <p:sp>
        <p:nvSpPr>
          <p:cNvPr id="45" name="TextBox 44">
            <a:extLst>
              <a:ext uri="{FF2B5EF4-FFF2-40B4-BE49-F238E27FC236}">
                <a16:creationId xmlns:a16="http://schemas.microsoft.com/office/drawing/2014/main" id="{9B5A8B3D-4C6D-04F0-A812-EB00DC95C839}"/>
              </a:ext>
            </a:extLst>
          </p:cNvPr>
          <p:cNvSpPr txBox="1"/>
          <p:nvPr/>
        </p:nvSpPr>
        <p:spPr>
          <a:xfrm>
            <a:off x="585217" y="770704"/>
            <a:ext cx="11149044" cy="307777"/>
          </a:xfrm>
          <a:prstGeom prst="rect">
            <a:avLst/>
          </a:prstGeom>
          <a:noFill/>
        </p:spPr>
        <p:txBody>
          <a:bodyPr wrap="square" lIns="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Content for Build //localhost is curated from the full Build catalog, emphasizing technical depth, developer credibility, and hands-on creation</a:t>
            </a:r>
            <a:endParaRPr kumimoji="0" lang="en-US" sz="1400" b="0" i="0" u="none" strike="noStrike" kern="1200" cap="none" spc="0" normalizeH="0" baseline="0" noProof="0">
              <a:ln>
                <a:noFill/>
              </a:ln>
              <a:solidFill>
                <a:srgbClr val="FFFFFF"/>
              </a:solidFill>
              <a:effectLst/>
              <a:uLnTx/>
              <a:uFillTx/>
              <a:latin typeface="Segoe UI"/>
              <a:ea typeface="+mn-ea"/>
              <a:cs typeface="Segoe UI"/>
            </a:endParaRPr>
          </a:p>
        </p:txBody>
      </p:sp>
      <p:sp>
        <p:nvSpPr>
          <p:cNvPr id="49" name="TextBox 48">
            <a:extLst>
              <a:ext uri="{FF2B5EF4-FFF2-40B4-BE49-F238E27FC236}">
                <a16:creationId xmlns:a16="http://schemas.microsoft.com/office/drawing/2014/main" id="{945BA156-8474-D718-3F30-96E46D740080}"/>
              </a:ext>
            </a:extLst>
          </p:cNvPr>
          <p:cNvSpPr txBox="1"/>
          <p:nvPr/>
        </p:nvSpPr>
        <p:spPr>
          <a:xfrm>
            <a:off x="699517" y="5962506"/>
            <a:ext cx="5633923"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0000"/>
                </a:solidFill>
                <a:effectLst/>
                <a:uLnTx/>
                <a:uFillTx/>
                <a:latin typeface="Segoe UI"/>
                <a:ea typeface="+mn-ea"/>
                <a:cs typeface="+mn-cs"/>
              </a:rPr>
              <a:t>Open Source and Security infused across topics</a:t>
            </a:r>
          </a:p>
        </p:txBody>
      </p:sp>
      <p:grpSp>
        <p:nvGrpSpPr>
          <p:cNvPr id="3" name="Group 2">
            <a:extLst>
              <a:ext uri="{FF2B5EF4-FFF2-40B4-BE49-F238E27FC236}">
                <a16:creationId xmlns:a16="http://schemas.microsoft.com/office/drawing/2014/main" id="{90CF25E3-AA58-0764-1A18-F4FBB98367E5}"/>
              </a:ext>
            </a:extLst>
          </p:cNvPr>
          <p:cNvGrpSpPr/>
          <p:nvPr/>
        </p:nvGrpSpPr>
        <p:grpSpPr>
          <a:xfrm>
            <a:off x="9658349" y="1464881"/>
            <a:ext cx="2286000" cy="4666902"/>
            <a:chOff x="288439" y="1464651"/>
            <a:chExt cx="2286000" cy="4666902"/>
          </a:xfrm>
        </p:grpSpPr>
        <p:sp>
          <p:nvSpPr>
            <p:cNvPr id="4" name="Freeform: Shape 3">
              <a:extLst>
                <a:ext uri="{FF2B5EF4-FFF2-40B4-BE49-F238E27FC236}">
                  <a16:creationId xmlns:a16="http://schemas.microsoft.com/office/drawing/2014/main" id="{5D31E7F4-6F75-7409-5075-0281438AA38D}"/>
                </a:ext>
              </a:extLst>
            </p:cNvPr>
            <p:cNvSpPr>
              <a:spLocks/>
            </p:cNvSpPr>
            <p:nvPr/>
          </p:nvSpPr>
          <p:spPr>
            <a:xfrm>
              <a:off x="288439" y="2075292"/>
              <a:ext cx="2286000" cy="4056261"/>
            </a:xfrm>
            <a:custGeom>
              <a:avLst/>
              <a:gdLst>
                <a:gd name="connsiteX0" fmla="*/ 119024 w 2651760"/>
                <a:gd name="connsiteY0" fmla="*/ 0 h 2127717"/>
                <a:gd name="connsiteX1" fmla="*/ 883820 w 2651760"/>
                <a:gd name="connsiteY1" fmla="*/ 0 h 2127717"/>
                <a:gd name="connsiteX2" fmla="*/ 883820 w 2651760"/>
                <a:gd name="connsiteY2" fmla="*/ 176973 h 2127717"/>
                <a:gd name="connsiteX3" fmla="*/ 1767941 w 2651760"/>
                <a:gd name="connsiteY3" fmla="*/ 176973 h 2127717"/>
                <a:gd name="connsiteX4" fmla="*/ 1767941 w 2651760"/>
                <a:gd name="connsiteY4" fmla="*/ 0 h 2127717"/>
                <a:gd name="connsiteX5" fmla="*/ 2532736 w 2651760"/>
                <a:gd name="connsiteY5" fmla="*/ 0 h 2127717"/>
                <a:gd name="connsiteX6" fmla="*/ 2651760 w 2651760"/>
                <a:gd name="connsiteY6" fmla="*/ 119024 h 2127717"/>
                <a:gd name="connsiteX7" fmla="*/ 2651760 w 2651760"/>
                <a:gd name="connsiteY7" fmla="*/ 2008693 h 2127717"/>
                <a:gd name="connsiteX8" fmla="*/ 2532736 w 2651760"/>
                <a:gd name="connsiteY8" fmla="*/ 2127717 h 2127717"/>
                <a:gd name="connsiteX9" fmla="*/ 119024 w 2651760"/>
                <a:gd name="connsiteY9" fmla="*/ 2127717 h 2127717"/>
                <a:gd name="connsiteX10" fmla="*/ 0 w 2651760"/>
                <a:gd name="connsiteY10" fmla="*/ 2008693 h 2127717"/>
                <a:gd name="connsiteX11" fmla="*/ 0 w 2651760"/>
                <a:gd name="connsiteY11" fmla="*/ 119024 h 2127717"/>
                <a:gd name="connsiteX12" fmla="*/ 119024 w 2651760"/>
                <a:gd name="connsiteY12" fmla="*/ 0 h 2127717"/>
                <a:gd name="connsiteX0" fmla="*/ 883820 w 2651760"/>
                <a:gd name="connsiteY0" fmla="*/ 176973 h 2127717"/>
                <a:gd name="connsiteX1" fmla="*/ 1767941 w 2651760"/>
                <a:gd name="connsiteY1" fmla="*/ 176973 h 2127717"/>
                <a:gd name="connsiteX2" fmla="*/ 1767941 w 2651760"/>
                <a:gd name="connsiteY2" fmla="*/ 0 h 2127717"/>
                <a:gd name="connsiteX3" fmla="*/ 2532736 w 2651760"/>
                <a:gd name="connsiteY3" fmla="*/ 0 h 2127717"/>
                <a:gd name="connsiteX4" fmla="*/ 2651760 w 2651760"/>
                <a:gd name="connsiteY4" fmla="*/ 119024 h 2127717"/>
                <a:gd name="connsiteX5" fmla="*/ 2651760 w 2651760"/>
                <a:gd name="connsiteY5" fmla="*/ 2008693 h 2127717"/>
                <a:gd name="connsiteX6" fmla="*/ 2532736 w 2651760"/>
                <a:gd name="connsiteY6" fmla="*/ 2127717 h 2127717"/>
                <a:gd name="connsiteX7" fmla="*/ 119024 w 2651760"/>
                <a:gd name="connsiteY7" fmla="*/ 2127717 h 2127717"/>
                <a:gd name="connsiteX8" fmla="*/ 0 w 2651760"/>
                <a:gd name="connsiteY8" fmla="*/ 2008693 h 2127717"/>
                <a:gd name="connsiteX9" fmla="*/ 0 w 2651760"/>
                <a:gd name="connsiteY9" fmla="*/ 119024 h 2127717"/>
                <a:gd name="connsiteX10" fmla="*/ 119024 w 2651760"/>
                <a:gd name="connsiteY10" fmla="*/ 0 h 2127717"/>
                <a:gd name="connsiteX11" fmla="*/ 883820 w 2651760"/>
                <a:gd name="connsiteY11" fmla="*/ 0 h 2127717"/>
                <a:gd name="connsiteX12" fmla="*/ 975260 w 2651760"/>
                <a:gd name="connsiteY12" fmla="*/ 268413 h 2127717"/>
                <a:gd name="connsiteX0" fmla="*/ 883820 w 2651760"/>
                <a:gd name="connsiteY0" fmla="*/ 176973 h 2127717"/>
                <a:gd name="connsiteX1" fmla="*/ 1767941 w 2651760"/>
                <a:gd name="connsiteY1" fmla="*/ 176973 h 2127717"/>
                <a:gd name="connsiteX2" fmla="*/ 1767941 w 2651760"/>
                <a:gd name="connsiteY2" fmla="*/ 0 h 2127717"/>
                <a:gd name="connsiteX3" fmla="*/ 2532736 w 2651760"/>
                <a:gd name="connsiteY3" fmla="*/ 0 h 2127717"/>
                <a:gd name="connsiteX4" fmla="*/ 2651760 w 2651760"/>
                <a:gd name="connsiteY4" fmla="*/ 119024 h 2127717"/>
                <a:gd name="connsiteX5" fmla="*/ 2651760 w 2651760"/>
                <a:gd name="connsiteY5" fmla="*/ 2008693 h 2127717"/>
                <a:gd name="connsiteX6" fmla="*/ 2532736 w 2651760"/>
                <a:gd name="connsiteY6" fmla="*/ 2127717 h 2127717"/>
                <a:gd name="connsiteX7" fmla="*/ 119024 w 2651760"/>
                <a:gd name="connsiteY7" fmla="*/ 2127717 h 2127717"/>
                <a:gd name="connsiteX8" fmla="*/ 0 w 2651760"/>
                <a:gd name="connsiteY8" fmla="*/ 2008693 h 2127717"/>
                <a:gd name="connsiteX9" fmla="*/ 0 w 2651760"/>
                <a:gd name="connsiteY9" fmla="*/ 119024 h 2127717"/>
                <a:gd name="connsiteX10" fmla="*/ 119024 w 2651760"/>
                <a:gd name="connsiteY10" fmla="*/ 0 h 2127717"/>
                <a:gd name="connsiteX11" fmla="*/ 883820 w 2651760"/>
                <a:gd name="connsiteY11" fmla="*/ 0 h 2127717"/>
                <a:gd name="connsiteX0" fmla="*/ 1767941 w 2651760"/>
                <a:gd name="connsiteY0" fmla="*/ 176973 h 2127717"/>
                <a:gd name="connsiteX1" fmla="*/ 1767941 w 2651760"/>
                <a:gd name="connsiteY1" fmla="*/ 0 h 2127717"/>
                <a:gd name="connsiteX2" fmla="*/ 2532736 w 2651760"/>
                <a:gd name="connsiteY2" fmla="*/ 0 h 2127717"/>
                <a:gd name="connsiteX3" fmla="*/ 2651760 w 2651760"/>
                <a:gd name="connsiteY3" fmla="*/ 119024 h 2127717"/>
                <a:gd name="connsiteX4" fmla="*/ 2651760 w 2651760"/>
                <a:gd name="connsiteY4" fmla="*/ 2008693 h 2127717"/>
                <a:gd name="connsiteX5" fmla="*/ 2532736 w 2651760"/>
                <a:gd name="connsiteY5" fmla="*/ 2127717 h 2127717"/>
                <a:gd name="connsiteX6" fmla="*/ 119024 w 2651760"/>
                <a:gd name="connsiteY6" fmla="*/ 2127717 h 2127717"/>
                <a:gd name="connsiteX7" fmla="*/ 0 w 2651760"/>
                <a:gd name="connsiteY7" fmla="*/ 2008693 h 2127717"/>
                <a:gd name="connsiteX8" fmla="*/ 0 w 2651760"/>
                <a:gd name="connsiteY8" fmla="*/ 119024 h 2127717"/>
                <a:gd name="connsiteX9" fmla="*/ 119024 w 2651760"/>
                <a:gd name="connsiteY9" fmla="*/ 0 h 2127717"/>
                <a:gd name="connsiteX10" fmla="*/ 883820 w 2651760"/>
                <a:gd name="connsiteY10" fmla="*/ 0 h 2127717"/>
                <a:gd name="connsiteX0" fmla="*/ 1767941 w 2651760"/>
                <a:gd name="connsiteY0" fmla="*/ 0 h 2127717"/>
                <a:gd name="connsiteX1" fmla="*/ 2532736 w 2651760"/>
                <a:gd name="connsiteY1" fmla="*/ 0 h 2127717"/>
                <a:gd name="connsiteX2" fmla="*/ 2651760 w 2651760"/>
                <a:gd name="connsiteY2" fmla="*/ 119024 h 2127717"/>
                <a:gd name="connsiteX3" fmla="*/ 2651760 w 2651760"/>
                <a:gd name="connsiteY3" fmla="*/ 2008693 h 2127717"/>
                <a:gd name="connsiteX4" fmla="*/ 2532736 w 2651760"/>
                <a:gd name="connsiteY4" fmla="*/ 2127717 h 2127717"/>
                <a:gd name="connsiteX5" fmla="*/ 119024 w 2651760"/>
                <a:gd name="connsiteY5" fmla="*/ 2127717 h 2127717"/>
                <a:gd name="connsiteX6" fmla="*/ 0 w 2651760"/>
                <a:gd name="connsiteY6" fmla="*/ 2008693 h 2127717"/>
                <a:gd name="connsiteX7" fmla="*/ 0 w 2651760"/>
                <a:gd name="connsiteY7" fmla="*/ 119024 h 2127717"/>
                <a:gd name="connsiteX8" fmla="*/ 119024 w 2651760"/>
                <a:gd name="connsiteY8" fmla="*/ 0 h 2127717"/>
                <a:gd name="connsiteX9" fmla="*/ 883820 w 2651760"/>
                <a:gd name="connsiteY9" fmla="*/ 0 h 212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1760" h="2127717">
                  <a:moveTo>
                    <a:pt x="1767941" y="0"/>
                  </a:moveTo>
                  <a:lnTo>
                    <a:pt x="2532736" y="0"/>
                  </a:lnTo>
                  <a:cubicBezTo>
                    <a:pt x="2598471" y="0"/>
                    <a:pt x="2651760" y="53289"/>
                    <a:pt x="2651760" y="119024"/>
                  </a:cubicBezTo>
                  <a:lnTo>
                    <a:pt x="2651760" y="2008693"/>
                  </a:lnTo>
                  <a:cubicBezTo>
                    <a:pt x="2651760" y="2074428"/>
                    <a:pt x="2598471" y="2127717"/>
                    <a:pt x="2532736" y="2127717"/>
                  </a:cubicBezTo>
                  <a:lnTo>
                    <a:pt x="119024" y="2127717"/>
                  </a:lnTo>
                  <a:cubicBezTo>
                    <a:pt x="53289" y="2127717"/>
                    <a:pt x="0" y="2074428"/>
                    <a:pt x="0" y="2008693"/>
                  </a:cubicBezTo>
                  <a:lnTo>
                    <a:pt x="0" y="119024"/>
                  </a:lnTo>
                  <a:cubicBezTo>
                    <a:pt x="0" y="53289"/>
                    <a:pt x="53289" y="0"/>
                    <a:pt x="119024" y="0"/>
                  </a:cubicBezTo>
                  <a:lnTo>
                    <a:pt x="883820" y="0"/>
                  </a:lnTo>
                </a:path>
              </a:pathLst>
            </a:custGeom>
            <a:noFill/>
            <a:ln w="6350" cap="flat">
              <a:solidFill>
                <a:srgbClr val="05A6F0"/>
              </a:solidFill>
              <a:prstDash val="solid"/>
              <a:miter/>
              <a:headEnd type="oval" w="sm" len="sm"/>
              <a:tailEnd type="oval" w="sm" len="sm"/>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
                <a:ea typeface="+mn-ea"/>
                <a:cs typeface="+mn-cs"/>
              </a:endParaRPr>
            </a:p>
          </p:txBody>
        </p:sp>
        <p:sp>
          <p:nvSpPr>
            <p:cNvPr id="5" name="Rectangle 3">
              <a:extLst>
                <a:ext uri="{FF2B5EF4-FFF2-40B4-BE49-F238E27FC236}">
                  <a16:creationId xmlns:a16="http://schemas.microsoft.com/office/drawing/2014/main" id="{210AEC92-F297-12E2-3523-A3E99D376AF8}"/>
                </a:ext>
              </a:extLst>
            </p:cNvPr>
            <p:cNvSpPr txBox="1">
              <a:spLocks noChangeArrowheads="1"/>
            </p:cNvSpPr>
            <p:nvPr/>
          </p:nvSpPr>
          <p:spPr>
            <a:xfrm>
              <a:off x="589463" y="2347826"/>
              <a:ext cx="1683950" cy="369332"/>
            </a:xfrm>
            <a:prstGeom prst="rect">
              <a:avLst/>
            </a:prstGeom>
            <a:ln>
              <a:solidFill>
                <a:schemeClr val="tx1"/>
              </a:solidFill>
            </a:ln>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400" b="1" i="0" u="none" strike="noStrike" kern="1200" cap="none" spc="0" normalizeH="0" baseline="0" noProof="0">
                  <a:ln>
                    <a:noFill/>
                  </a:ln>
                  <a:solidFill>
                    <a:srgbClr val="FFFFFF"/>
                  </a:solidFill>
                  <a:effectLst/>
                  <a:uLnTx/>
                  <a:uFillTx/>
                  <a:latin typeface="Segoe UI"/>
                  <a:ea typeface="Segoe UI" pitchFamily="34" charset="0"/>
                  <a:cs typeface="Segoe UI"/>
                </a:rPr>
                <a:t>Labs</a:t>
              </a:r>
              <a:endParaRPr kumimoji="0" lang="en-US" sz="2400" b="0" i="0" u="none" strike="noStrike" kern="1200" cap="none" spc="0" normalizeH="0" baseline="0" noProof="0">
                <a:ln>
                  <a:noFill/>
                </a:ln>
                <a:solidFill>
                  <a:srgbClr val="FFFFFF"/>
                </a:solidFill>
                <a:effectLst/>
                <a:uLnTx/>
                <a:uFillTx/>
                <a:latin typeface="Segoe UI"/>
                <a:ea typeface="Segoe UI" pitchFamily="34" charset="0"/>
                <a:cs typeface="Segoe UI"/>
              </a:endParaRPr>
            </a:p>
          </p:txBody>
        </p:sp>
        <p:pic>
          <p:nvPicPr>
            <p:cNvPr id="6" name="Keynote" descr="Beaker outline">
              <a:extLst>
                <a:ext uri="{FF2B5EF4-FFF2-40B4-BE49-F238E27FC236}">
                  <a16:creationId xmlns:a16="http://schemas.microsoft.com/office/drawing/2014/main" id="{9DF600D0-3AAD-BC59-9082-2B4EAFDD2D4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65678" y="1464651"/>
              <a:ext cx="731520" cy="731520"/>
            </a:xfrm>
            <a:prstGeom prst="rect">
              <a:avLst/>
            </a:prstGeom>
          </p:spPr>
        </p:pic>
        <p:sp>
          <p:nvSpPr>
            <p:cNvPr id="7" name="TextBox 6">
              <a:extLst>
                <a:ext uri="{FF2B5EF4-FFF2-40B4-BE49-F238E27FC236}">
                  <a16:creationId xmlns:a16="http://schemas.microsoft.com/office/drawing/2014/main" id="{CE138D8D-534E-329D-0729-184288B4B153}"/>
                </a:ext>
              </a:extLst>
            </p:cNvPr>
            <p:cNvSpPr txBox="1"/>
            <p:nvPr/>
          </p:nvSpPr>
          <p:spPr>
            <a:xfrm>
              <a:off x="395118" y="2989692"/>
              <a:ext cx="2072640" cy="2954655"/>
            </a:xfrm>
            <a:prstGeom prst="rect">
              <a:avLst/>
            </a:prstGeom>
            <a:noFill/>
            <a:ln>
              <a:solidFill>
                <a:schemeClr val="tx1"/>
              </a:solidFill>
            </a:ln>
          </p:spPr>
          <p:txBody>
            <a:bodyPr wrap="square" lIns="0" tIns="0" rIns="0" bIns="0" rtlCol="0">
              <a:spAutoFit/>
            </a:bodyPr>
            <a:lstStyle/>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FFFFFF"/>
                  </a:solidFill>
                  <a:effectLst/>
                  <a:uLnTx/>
                  <a:uFillTx/>
                  <a:latin typeface="Segoe UI"/>
                  <a:ea typeface="+mn-ea"/>
                  <a:cs typeface="+mn-cs"/>
                </a:rPr>
                <a:t>75 minutes</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Expert-led and proctor-supported, attendees get hands on with our technology in a controlled virtual environment</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High-demand, so RSVP necessary and wait list used</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FFFFFF"/>
                  </a:solidFill>
                  <a:effectLst/>
                  <a:uLnTx/>
                  <a:uFillTx/>
                  <a:latin typeface="Segoe UI"/>
                  <a:ea typeface="+mn-ea"/>
                  <a:cs typeface="+mn-cs"/>
                </a:rPr>
                <a:t>Primary role</a:t>
              </a:r>
              <a:r>
                <a:rPr kumimoji="0" lang="en-US" sz="1400" b="0" i="0" u="none" strike="noStrike" kern="1200" cap="none" spc="0" normalizeH="0" baseline="0" noProof="0">
                  <a:ln>
                    <a:noFill/>
                  </a:ln>
                  <a:solidFill>
                    <a:srgbClr val="FFFFFF"/>
                  </a:solidFill>
                  <a:effectLst/>
                  <a:uLnTx/>
                  <a:uFillTx/>
                  <a:latin typeface="Segoe UI"/>
                  <a:ea typeface="+mn-ea"/>
                  <a:cs typeface="+mn-cs"/>
                </a:rPr>
                <a:t>: Hands‑on proof and skill transfer</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In-person only</a:t>
              </a:r>
            </a:p>
          </p:txBody>
        </p:sp>
      </p:grpSp>
      <p:grpSp>
        <p:nvGrpSpPr>
          <p:cNvPr id="8" name="Group 7">
            <a:extLst>
              <a:ext uri="{FF2B5EF4-FFF2-40B4-BE49-F238E27FC236}">
                <a16:creationId xmlns:a16="http://schemas.microsoft.com/office/drawing/2014/main" id="{03BA1DC2-BD0F-F02A-4058-125BE98E9281}"/>
              </a:ext>
            </a:extLst>
          </p:cNvPr>
          <p:cNvGrpSpPr/>
          <p:nvPr/>
        </p:nvGrpSpPr>
        <p:grpSpPr>
          <a:xfrm>
            <a:off x="7214235" y="1464881"/>
            <a:ext cx="2286000" cy="4666902"/>
            <a:chOff x="288439" y="1464651"/>
            <a:chExt cx="2286000" cy="4666902"/>
          </a:xfrm>
        </p:grpSpPr>
        <p:sp>
          <p:nvSpPr>
            <p:cNvPr id="9" name="Freeform: Shape 8">
              <a:extLst>
                <a:ext uri="{FF2B5EF4-FFF2-40B4-BE49-F238E27FC236}">
                  <a16:creationId xmlns:a16="http://schemas.microsoft.com/office/drawing/2014/main" id="{ECDEDA49-5366-E2DC-1845-B2B833EB9269}"/>
                </a:ext>
              </a:extLst>
            </p:cNvPr>
            <p:cNvSpPr>
              <a:spLocks/>
            </p:cNvSpPr>
            <p:nvPr/>
          </p:nvSpPr>
          <p:spPr>
            <a:xfrm>
              <a:off x="288439" y="2075292"/>
              <a:ext cx="2286000" cy="4056261"/>
            </a:xfrm>
            <a:custGeom>
              <a:avLst/>
              <a:gdLst>
                <a:gd name="connsiteX0" fmla="*/ 119024 w 2651760"/>
                <a:gd name="connsiteY0" fmla="*/ 0 h 2127717"/>
                <a:gd name="connsiteX1" fmla="*/ 883820 w 2651760"/>
                <a:gd name="connsiteY1" fmla="*/ 0 h 2127717"/>
                <a:gd name="connsiteX2" fmla="*/ 883820 w 2651760"/>
                <a:gd name="connsiteY2" fmla="*/ 176973 h 2127717"/>
                <a:gd name="connsiteX3" fmla="*/ 1767941 w 2651760"/>
                <a:gd name="connsiteY3" fmla="*/ 176973 h 2127717"/>
                <a:gd name="connsiteX4" fmla="*/ 1767941 w 2651760"/>
                <a:gd name="connsiteY4" fmla="*/ 0 h 2127717"/>
                <a:gd name="connsiteX5" fmla="*/ 2532736 w 2651760"/>
                <a:gd name="connsiteY5" fmla="*/ 0 h 2127717"/>
                <a:gd name="connsiteX6" fmla="*/ 2651760 w 2651760"/>
                <a:gd name="connsiteY6" fmla="*/ 119024 h 2127717"/>
                <a:gd name="connsiteX7" fmla="*/ 2651760 w 2651760"/>
                <a:gd name="connsiteY7" fmla="*/ 2008693 h 2127717"/>
                <a:gd name="connsiteX8" fmla="*/ 2532736 w 2651760"/>
                <a:gd name="connsiteY8" fmla="*/ 2127717 h 2127717"/>
                <a:gd name="connsiteX9" fmla="*/ 119024 w 2651760"/>
                <a:gd name="connsiteY9" fmla="*/ 2127717 h 2127717"/>
                <a:gd name="connsiteX10" fmla="*/ 0 w 2651760"/>
                <a:gd name="connsiteY10" fmla="*/ 2008693 h 2127717"/>
                <a:gd name="connsiteX11" fmla="*/ 0 w 2651760"/>
                <a:gd name="connsiteY11" fmla="*/ 119024 h 2127717"/>
                <a:gd name="connsiteX12" fmla="*/ 119024 w 2651760"/>
                <a:gd name="connsiteY12" fmla="*/ 0 h 2127717"/>
                <a:gd name="connsiteX0" fmla="*/ 883820 w 2651760"/>
                <a:gd name="connsiteY0" fmla="*/ 176973 h 2127717"/>
                <a:gd name="connsiteX1" fmla="*/ 1767941 w 2651760"/>
                <a:gd name="connsiteY1" fmla="*/ 176973 h 2127717"/>
                <a:gd name="connsiteX2" fmla="*/ 1767941 w 2651760"/>
                <a:gd name="connsiteY2" fmla="*/ 0 h 2127717"/>
                <a:gd name="connsiteX3" fmla="*/ 2532736 w 2651760"/>
                <a:gd name="connsiteY3" fmla="*/ 0 h 2127717"/>
                <a:gd name="connsiteX4" fmla="*/ 2651760 w 2651760"/>
                <a:gd name="connsiteY4" fmla="*/ 119024 h 2127717"/>
                <a:gd name="connsiteX5" fmla="*/ 2651760 w 2651760"/>
                <a:gd name="connsiteY5" fmla="*/ 2008693 h 2127717"/>
                <a:gd name="connsiteX6" fmla="*/ 2532736 w 2651760"/>
                <a:gd name="connsiteY6" fmla="*/ 2127717 h 2127717"/>
                <a:gd name="connsiteX7" fmla="*/ 119024 w 2651760"/>
                <a:gd name="connsiteY7" fmla="*/ 2127717 h 2127717"/>
                <a:gd name="connsiteX8" fmla="*/ 0 w 2651760"/>
                <a:gd name="connsiteY8" fmla="*/ 2008693 h 2127717"/>
                <a:gd name="connsiteX9" fmla="*/ 0 w 2651760"/>
                <a:gd name="connsiteY9" fmla="*/ 119024 h 2127717"/>
                <a:gd name="connsiteX10" fmla="*/ 119024 w 2651760"/>
                <a:gd name="connsiteY10" fmla="*/ 0 h 2127717"/>
                <a:gd name="connsiteX11" fmla="*/ 883820 w 2651760"/>
                <a:gd name="connsiteY11" fmla="*/ 0 h 2127717"/>
                <a:gd name="connsiteX12" fmla="*/ 975260 w 2651760"/>
                <a:gd name="connsiteY12" fmla="*/ 268413 h 2127717"/>
                <a:gd name="connsiteX0" fmla="*/ 883820 w 2651760"/>
                <a:gd name="connsiteY0" fmla="*/ 176973 h 2127717"/>
                <a:gd name="connsiteX1" fmla="*/ 1767941 w 2651760"/>
                <a:gd name="connsiteY1" fmla="*/ 176973 h 2127717"/>
                <a:gd name="connsiteX2" fmla="*/ 1767941 w 2651760"/>
                <a:gd name="connsiteY2" fmla="*/ 0 h 2127717"/>
                <a:gd name="connsiteX3" fmla="*/ 2532736 w 2651760"/>
                <a:gd name="connsiteY3" fmla="*/ 0 h 2127717"/>
                <a:gd name="connsiteX4" fmla="*/ 2651760 w 2651760"/>
                <a:gd name="connsiteY4" fmla="*/ 119024 h 2127717"/>
                <a:gd name="connsiteX5" fmla="*/ 2651760 w 2651760"/>
                <a:gd name="connsiteY5" fmla="*/ 2008693 h 2127717"/>
                <a:gd name="connsiteX6" fmla="*/ 2532736 w 2651760"/>
                <a:gd name="connsiteY6" fmla="*/ 2127717 h 2127717"/>
                <a:gd name="connsiteX7" fmla="*/ 119024 w 2651760"/>
                <a:gd name="connsiteY7" fmla="*/ 2127717 h 2127717"/>
                <a:gd name="connsiteX8" fmla="*/ 0 w 2651760"/>
                <a:gd name="connsiteY8" fmla="*/ 2008693 h 2127717"/>
                <a:gd name="connsiteX9" fmla="*/ 0 w 2651760"/>
                <a:gd name="connsiteY9" fmla="*/ 119024 h 2127717"/>
                <a:gd name="connsiteX10" fmla="*/ 119024 w 2651760"/>
                <a:gd name="connsiteY10" fmla="*/ 0 h 2127717"/>
                <a:gd name="connsiteX11" fmla="*/ 883820 w 2651760"/>
                <a:gd name="connsiteY11" fmla="*/ 0 h 2127717"/>
                <a:gd name="connsiteX0" fmla="*/ 1767941 w 2651760"/>
                <a:gd name="connsiteY0" fmla="*/ 176973 h 2127717"/>
                <a:gd name="connsiteX1" fmla="*/ 1767941 w 2651760"/>
                <a:gd name="connsiteY1" fmla="*/ 0 h 2127717"/>
                <a:gd name="connsiteX2" fmla="*/ 2532736 w 2651760"/>
                <a:gd name="connsiteY2" fmla="*/ 0 h 2127717"/>
                <a:gd name="connsiteX3" fmla="*/ 2651760 w 2651760"/>
                <a:gd name="connsiteY3" fmla="*/ 119024 h 2127717"/>
                <a:gd name="connsiteX4" fmla="*/ 2651760 w 2651760"/>
                <a:gd name="connsiteY4" fmla="*/ 2008693 h 2127717"/>
                <a:gd name="connsiteX5" fmla="*/ 2532736 w 2651760"/>
                <a:gd name="connsiteY5" fmla="*/ 2127717 h 2127717"/>
                <a:gd name="connsiteX6" fmla="*/ 119024 w 2651760"/>
                <a:gd name="connsiteY6" fmla="*/ 2127717 h 2127717"/>
                <a:gd name="connsiteX7" fmla="*/ 0 w 2651760"/>
                <a:gd name="connsiteY7" fmla="*/ 2008693 h 2127717"/>
                <a:gd name="connsiteX8" fmla="*/ 0 w 2651760"/>
                <a:gd name="connsiteY8" fmla="*/ 119024 h 2127717"/>
                <a:gd name="connsiteX9" fmla="*/ 119024 w 2651760"/>
                <a:gd name="connsiteY9" fmla="*/ 0 h 2127717"/>
                <a:gd name="connsiteX10" fmla="*/ 883820 w 2651760"/>
                <a:gd name="connsiteY10" fmla="*/ 0 h 2127717"/>
                <a:gd name="connsiteX0" fmla="*/ 1767941 w 2651760"/>
                <a:gd name="connsiteY0" fmla="*/ 0 h 2127717"/>
                <a:gd name="connsiteX1" fmla="*/ 2532736 w 2651760"/>
                <a:gd name="connsiteY1" fmla="*/ 0 h 2127717"/>
                <a:gd name="connsiteX2" fmla="*/ 2651760 w 2651760"/>
                <a:gd name="connsiteY2" fmla="*/ 119024 h 2127717"/>
                <a:gd name="connsiteX3" fmla="*/ 2651760 w 2651760"/>
                <a:gd name="connsiteY3" fmla="*/ 2008693 h 2127717"/>
                <a:gd name="connsiteX4" fmla="*/ 2532736 w 2651760"/>
                <a:gd name="connsiteY4" fmla="*/ 2127717 h 2127717"/>
                <a:gd name="connsiteX5" fmla="*/ 119024 w 2651760"/>
                <a:gd name="connsiteY5" fmla="*/ 2127717 h 2127717"/>
                <a:gd name="connsiteX6" fmla="*/ 0 w 2651760"/>
                <a:gd name="connsiteY6" fmla="*/ 2008693 h 2127717"/>
                <a:gd name="connsiteX7" fmla="*/ 0 w 2651760"/>
                <a:gd name="connsiteY7" fmla="*/ 119024 h 2127717"/>
                <a:gd name="connsiteX8" fmla="*/ 119024 w 2651760"/>
                <a:gd name="connsiteY8" fmla="*/ 0 h 2127717"/>
                <a:gd name="connsiteX9" fmla="*/ 883820 w 2651760"/>
                <a:gd name="connsiteY9" fmla="*/ 0 h 212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51760" h="2127717">
                  <a:moveTo>
                    <a:pt x="1767941" y="0"/>
                  </a:moveTo>
                  <a:lnTo>
                    <a:pt x="2532736" y="0"/>
                  </a:lnTo>
                  <a:cubicBezTo>
                    <a:pt x="2598471" y="0"/>
                    <a:pt x="2651760" y="53289"/>
                    <a:pt x="2651760" y="119024"/>
                  </a:cubicBezTo>
                  <a:lnTo>
                    <a:pt x="2651760" y="2008693"/>
                  </a:lnTo>
                  <a:cubicBezTo>
                    <a:pt x="2651760" y="2074428"/>
                    <a:pt x="2598471" y="2127717"/>
                    <a:pt x="2532736" y="2127717"/>
                  </a:cubicBezTo>
                  <a:lnTo>
                    <a:pt x="119024" y="2127717"/>
                  </a:lnTo>
                  <a:cubicBezTo>
                    <a:pt x="53289" y="2127717"/>
                    <a:pt x="0" y="2074428"/>
                    <a:pt x="0" y="2008693"/>
                  </a:cubicBezTo>
                  <a:lnTo>
                    <a:pt x="0" y="119024"/>
                  </a:lnTo>
                  <a:cubicBezTo>
                    <a:pt x="0" y="53289"/>
                    <a:pt x="53289" y="0"/>
                    <a:pt x="119024" y="0"/>
                  </a:cubicBezTo>
                  <a:lnTo>
                    <a:pt x="883820" y="0"/>
                  </a:lnTo>
                </a:path>
              </a:pathLst>
            </a:custGeom>
            <a:noFill/>
            <a:ln w="6350" cap="flat">
              <a:solidFill>
                <a:schemeClr val="accent1">
                  <a:lumMod val="75000"/>
                  <a:alpha val="80000"/>
                </a:schemeClr>
              </a:solidFill>
              <a:prstDash val="solid"/>
              <a:miter/>
              <a:headEnd type="oval" w="sm" len="sm"/>
              <a:tailEnd type="oval" w="sm" len="sm"/>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
                <a:ea typeface="+mn-ea"/>
                <a:cs typeface="+mn-cs"/>
              </a:endParaRPr>
            </a:p>
          </p:txBody>
        </p:sp>
        <p:sp>
          <p:nvSpPr>
            <p:cNvPr id="10" name="Rectangle 3">
              <a:extLst>
                <a:ext uri="{FF2B5EF4-FFF2-40B4-BE49-F238E27FC236}">
                  <a16:creationId xmlns:a16="http://schemas.microsoft.com/office/drawing/2014/main" id="{9C3E90D2-4F1F-BD73-9280-FCD7DDA59414}"/>
                </a:ext>
              </a:extLst>
            </p:cNvPr>
            <p:cNvSpPr txBox="1">
              <a:spLocks noChangeArrowheads="1"/>
            </p:cNvSpPr>
            <p:nvPr/>
          </p:nvSpPr>
          <p:spPr>
            <a:xfrm>
              <a:off x="589463" y="2344300"/>
              <a:ext cx="1683950" cy="369332"/>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400" b="1" i="0" u="none" strike="noStrike" kern="1200" cap="none" spc="0" normalizeH="0" baseline="0" noProof="0">
                  <a:ln>
                    <a:noFill/>
                  </a:ln>
                  <a:solidFill>
                    <a:srgbClr val="FFFFFF"/>
                  </a:solidFill>
                  <a:effectLst/>
                  <a:uLnTx/>
                  <a:uFillTx/>
                  <a:latin typeface="Segoe UI"/>
                  <a:ea typeface="Segoe UI" pitchFamily="34" charset="0"/>
                  <a:cs typeface="Segoe UI"/>
                </a:rPr>
                <a:t>Breakouts</a:t>
              </a:r>
              <a:endParaRPr kumimoji="0" lang="en-US" sz="2400" b="0" i="0" u="none" strike="noStrike" kern="1200" cap="none" spc="0" normalizeH="0" baseline="0" noProof="0">
                <a:ln>
                  <a:noFill/>
                </a:ln>
                <a:solidFill>
                  <a:srgbClr val="FFFFFF"/>
                </a:solidFill>
                <a:effectLst/>
                <a:uLnTx/>
                <a:uFillTx/>
                <a:latin typeface="Segoe UI"/>
                <a:ea typeface="Segoe UI" pitchFamily="34" charset="0"/>
                <a:cs typeface="Segoe UI"/>
              </a:endParaRPr>
            </a:p>
          </p:txBody>
        </p:sp>
        <p:pic>
          <p:nvPicPr>
            <p:cNvPr id="11" name="Keynote" descr="Questions outline">
              <a:extLst>
                <a:ext uri="{FF2B5EF4-FFF2-40B4-BE49-F238E27FC236}">
                  <a16:creationId xmlns:a16="http://schemas.microsoft.com/office/drawing/2014/main" id="{7145430E-09ED-E0AF-9C39-509B5B29019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65678" y="1464651"/>
              <a:ext cx="731520" cy="731520"/>
            </a:xfrm>
            <a:prstGeom prst="rect">
              <a:avLst/>
            </a:prstGeom>
          </p:spPr>
        </p:pic>
        <p:sp>
          <p:nvSpPr>
            <p:cNvPr id="12" name="TextBox 11">
              <a:extLst>
                <a:ext uri="{FF2B5EF4-FFF2-40B4-BE49-F238E27FC236}">
                  <a16:creationId xmlns:a16="http://schemas.microsoft.com/office/drawing/2014/main" id="{8BE9846B-08C7-702F-F857-49B5F578ADD9}"/>
                </a:ext>
              </a:extLst>
            </p:cNvPr>
            <p:cNvSpPr txBox="1"/>
            <p:nvPr/>
          </p:nvSpPr>
          <p:spPr>
            <a:xfrm>
              <a:off x="395118" y="2989692"/>
              <a:ext cx="2072640" cy="2954655"/>
            </a:xfrm>
            <a:prstGeom prst="rect">
              <a:avLst/>
            </a:prstGeom>
            <a:noFill/>
          </p:spPr>
          <p:txBody>
            <a:bodyPr wrap="square" lIns="0" tIns="0" rIns="0" bIns="0" rtlCol="0">
              <a:spAutoFit/>
            </a:bodyPr>
            <a:lstStyle/>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FFFFFF"/>
                  </a:solidFill>
                  <a:effectLst/>
                  <a:uLnTx/>
                  <a:uFillTx/>
                  <a:latin typeface="Segoe UI"/>
                  <a:ea typeface="+mn-ea"/>
                  <a:cs typeface="+mn-cs"/>
                </a:rPr>
                <a:t>45 minutes</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Expert-led, delivered to a large audience, with presentations featuring live code and demos</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Deliver deep technical information and messaging via L-200 to L-400 content</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FFFFFF"/>
                  </a:solidFill>
                  <a:effectLst/>
                  <a:uLnTx/>
                  <a:uFillTx/>
                  <a:latin typeface="Segoe UI"/>
                  <a:ea typeface="+mn-ea"/>
                  <a:cs typeface="+mn-cs"/>
                </a:rPr>
                <a:t>Primary role</a:t>
              </a:r>
              <a:r>
                <a:rPr kumimoji="0" lang="en-US" sz="1400" b="0" i="0" u="none" strike="noStrike" kern="1200" cap="none" spc="0" normalizeH="0" baseline="0" noProof="0">
                  <a:ln>
                    <a:noFill/>
                  </a:ln>
                  <a:solidFill>
                    <a:srgbClr val="FFFFFF"/>
                  </a:solidFill>
                  <a:effectLst/>
                  <a:uLnTx/>
                  <a:uFillTx/>
                  <a:latin typeface="Segoe UI"/>
                  <a:ea typeface="+mn-ea"/>
                  <a:cs typeface="+mn-cs"/>
                </a:rPr>
                <a:t>: Technical depth, credibility, and proof</a:t>
              </a:r>
            </a:p>
            <a:p>
              <a:pPr marL="118872" marR="0" lvl="0" indent="-118872"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In-person and digital</a:t>
              </a:r>
            </a:p>
          </p:txBody>
        </p:sp>
      </p:grpSp>
      <p:sp>
        <p:nvSpPr>
          <p:cNvPr id="15" name="Rectangle 3">
            <a:extLst>
              <a:ext uri="{FF2B5EF4-FFF2-40B4-BE49-F238E27FC236}">
                <a16:creationId xmlns:a16="http://schemas.microsoft.com/office/drawing/2014/main" id="{DEDF8F67-8CE5-5748-9E3B-AB0F65E4959A}"/>
              </a:ext>
            </a:extLst>
          </p:cNvPr>
          <p:cNvSpPr txBox="1">
            <a:spLocks noChangeArrowheads="1"/>
          </p:cNvSpPr>
          <p:nvPr/>
        </p:nvSpPr>
        <p:spPr>
          <a:xfrm>
            <a:off x="7513282" y="2465409"/>
            <a:ext cx="1683950" cy="369332"/>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400" b="1" i="0" u="none" strike="noStrike" kern="1200" cap="none" spc="0" normalizeH="0" baseline="0" noProof="0">
                <a:ln>
                  <a:noFill/>
                </a:ln>
                <a:solidFill>
                  <a:srgbClr val="000000"/>
                </a:solidFill>
                <a:effectLst/>
                <a:uLnTx/>
                <a:uFillTx/>
                <a:latin typeface="Segoe UI"/>
                <a:ea typeface="Segoe UI" pitchFamily="34" charset="0"/>
                <a:cs typeface="Segoe UI"/>
              </a:rPr>
              <a:t>Breakouts</a:t>
            </a:r>
            <a:endParaRPr kumimoji="0" lang="en-US" sz="2400" b="0" i="0" u="none" strike="noStrike" kern="1200" cap="none" spc="0" normalizeH="0" baseline="0" noProof="0">
              <a:ln>
                <a:noFill/>
              </a:ln>
              <a:solidFill>
                <a:srgbClr val="000000"/>
              </a:solidFill>
              <a:effectLst/>
              <a:uLnTx/>
              <a:uFillTx/>
              <a:latin typeface="Segoe UI"/>
              <a:ea typeface="Segoe UI" pitchFamily="34" charset="0"/>
              <a:cs typeface="Segoe UI"/>
            </a:endParaRPr>
          </a:p>
        </p:txBody>
      </p:sp>
      <p:sp>
        <p:nvSpPr>
          <p:cNvPr id="16" name="TextBox 15">
            <a:extLst>
              <a:ext uri="{FF2B5EF4-FFF2-40B4-BE49-F238E27FC236}">
                <a16:creationId xmlns:a16="http://schemas.microsoft.com/office/drawing/2014/main" id="{7AA29804-533A-FC4F-7367-5F9C79615B20}"/>
              </a:ext>
            </a:extLst>
          </p:cNvPr>
          <p:cNvSpPr txBox="1"/>
          <p:nvPr/>
        </p:nvSpPr>
        <p:spPr>
          <a:xfrm>
            <a:off x="7522807" y="2955263"/>
            <a:ext cx="1824955" cy="2677656"/>
          </a:xfrm>
          <a:prstGeom prst="rect">
            <a:avLst/>
          </a:prstGeom>
          <a:noFill/>
        </p:spPr>
        <p:txBody>
          <a:bodyPr wrap="square" lIns="0" tIns="0" rIns="0" bIns="0" rtlCol="0">
            <a:spAutoFit/>
          </a:bodyPr>
          <a:lstStyle/>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Segoe UI"/>
                <a:ea typeface="+mn-ea"/>
                <a:cs typeface="+mn-cs"/>
              </a:rPr>
              <a:t>45 minutes</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Segoe UI"/>
                <a:ea typeface="+mn-ea"/>
                <a:cs typeface="+mn-cs"/>
              </a:rPr>
              <a:t>12 curated sessions</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Expert-led with presentations featuring live code and demos</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Deliver deep technical information and messaging via L-200 to L-400 content</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Segoe UI"/>
                <a:ea typeface="+mn-ea"/>
                <a:cs typeface="+mn-cs"/>
              </a:rPr>
              <a:t>Primary role</a:t>
            </a:r>
            <a:r>
              <a:rPr kumimoji="0" lang="en-US" sz="1200" b="0" i="0" u="none" strike="noStrike" kern="1200" cap="none" spc="0" normalizeH="0" baseline="0" noProof="0">
                <a:ln>
                  <a:noFill/>
                </a:ln>
                <a:solidFill>
                  <a:srgbClr val="000000"/>
                </a:solidFill>
                <a:effectLst/>
                <a:uLnTx/>
                <a:uFillTx/>
                <a:latin typeface="Segoe UI"/>
                <a:ea typeface="+mn-ea"/>
                <a:cs typeface="+mn-cs"/>
              </a:rPr>
              <a:t>: Technical depth, credibility, and proof</a:t>
            </a:r>
          </a:p>
        </p:txBody>
      </p:sp>
      <p:sp>
        <p:nvSpPr>
          <p:cNvPr id="17" name="Rectangle 3">
            <a:extLst>
              <a:ext uri="{FF2B5EF4-FFF2-40B4-BE49-F238E27FC236}">
                <a16:creationId xmlns:a16="http://schemas.microsoft.com/office/drawing/2014/main" id="{C99DBFD9-7268-EA43-CFFC-1E9F779C68D4}"/>
              </a:ext>
            </a:extLst>
          </p:cNvPr>
          <p:cNvSpPr txBox="1">
            <a:spLocks noChangeArrowheads="1"/>
          </p:cNvSpPr>
          <p:nvPr/>
        </p:nvSpPr>
        <p:spPr>
          <a:xfrm>
            <a:off x="9883138" y="2525670"/>
            <a:ext cx="1683950" cy="369332"/>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400" b="1" i="0" u="none" strike="noStrike" kern="1200" cap="none" spc="0" normalizeH="0" baseline="0" noProof="0">
                <a:ln>
                  <a:noFill/>
                </a:ln>
                <a:solidFill>
                  <a:srgbClr val="000000"/>
                </a:solidFill>
                <a:effectLst/>
                <a:uLnTx/>
                <a:uFillTx/>
                <a:latin typeface="Segoe UI"/>
                <a:ea typeface="Segoe UI" pitchFamily="34" charset="0"/>
                <a:cs typeface="Segoe UI"/>
              </a:rPr>
              <a:t>Labs</a:t>
            </a:r>
            <a:endParaRPr kumimoji="0" lang="en-US" sz="2400" b="0" i="0" u="none" strike="noStrike" kern="1200" cap="none" spc="0" normalizeH="0" baseline="0" noProof="0">
              <a:ln>
                <a:noFill/>
              </a:ln>
              <a:solidFill>
                <a:srgbClr val="000000"/>
              </a:solidFill>
              <a:effectLst/>
              <a:uLnTx/>
              <a:uFillTx/>
              <a:latin typeface="Segoe UI"/>
              <a:ea typeface="Segoe UI" pitchFamily="34" charset="0"/>
              <a:cs typeface="Segoe UI"/>
            </a:endParaRPr>
          </a:p>
        </p:txBody>
      </p:sp>
      <p:sp>
        <p:nvSpPr>
          <p:cNvPr id="18" name="TextBox 17">
            <a:extLst>
              <a:ext uri="{FF2B5EF4-FFF2-40B4-BE49-F238E27FC236}">
                <a16:creationId xmlns:a16="http://schemas.microsoft.com/office/drawing/2014/main" id="{D7D97AEF-DF49-1680-14CC-75A6E1BFC729}"/>
              </a:ext>
            </a:extLst>
          </p:cNvPr>
          <p:cNvSpPr txBox="1"/>
          <p:nvPr/>
        </p:nvSpPr>
        <p:spPr>
          <a:xfrm>
            <a:off x="9925050" y="2955263"/>
            <a:ext cx="1718273" cy="2377574"/>
          </a:xfrm>
          <a:prstGeom prst="rect">
            <a:avLst/>
          </a:prstGeom>
          <a:noFill/>
          <a:ln>
            <a:solidFill>
              <a:schemeClr val="tx1"/>
            </a:solidFill>
          </a:ln>
        </p:spPr>
        <p:txBody>
          <a:bodyPr wrap="square" lIns="0" tIns="0" rIns="0" bIns="0" rtlCol="0">
            <a:spAutoFit/>
          </a:bodyPr>
          <a:lstStyle/>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000000"/>
                </a:solidFill>
                <a:effectLst/>
                <a:uLnTx/>
                <a:uFillTx/>
                <a:latin typeface="Segoe UI"/>
                <a:ea typeface="+mn-ea"/>
                <a:cs typeface="+mn-cs"/>
              </a:rPr>
              <a:t>75 minutes</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000000"/>
                </a:solidFill>
                <a:effectLst/>
                <a:uLnTx/>
                <a:uFillTx/>
                <a:latin typeface="Segoe UI"/>
                <a:ea typeface="+mn-ea"/>
                <a:cs typeface="+mn-cs"/>
              </a:rPr>
              <a:t>3 curated labs</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Segoe UI"/>
                <a:ea typeface="+mn-ea"/>
                <a:cs typeface="+mn-cs"/>
              </a:rPr>
              <a:t>Expert-led and proctor-supported, attendees get hands on with our technology in a controlled virtual environment</a:t>
            </a:r>
          </a:p>
          <a:p>
            <a:pPr marL="118872" marR="0" lvl="0" indent="-118872" algn="l" defTabSz="914400" rtl="0" eaLnBrk="1" fontAlgn="auto" latinLnBrk="0" hangingPunct="1">
              <a:lnSpc>
                <a:spcPct val="100000"/>
              </a:lnSpc>
              <a:spcBef>
                <a:spcPts val="600"/>
              </a:spcBef>
              <a:spcAft>
                <a:spcPts val="3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000000"/>
                </a:solidFill>
                <a:effectLst/>
                <a:uLnTx/>
                <a:uFillTx/>
                <a:latin typeface="Segoe UI"/>
                <a:ea typeface="+mn-ea"/>
                <a:cs typeface="+mn-cs"/>
              </a:rPr>
              <a:t>Primary role</a:t>
            </a:r>
            <a:r>
              <a:rPr kumimoji="0" lang="en-US" sz="1200" b="0" i="0" u="none" strike="noStrike" kern="0" cap="none" spc="0" normalizeH="0" baseline="0" noProof="0">
                <a:ln>
                  <a:noFill/>
                </a:ln>
                <a:solidFill>
                  <a:srgbClr val="000000"/>
                </a:solidFill>
                <a:effectLst/>
                <a:uLnTx/>
                <a:uFillTx/>
                <a:latin typeface="Segoe UI"/>
                <a:ea typeface="+mn-ea"/>
                <a:cs typeface="+mn-cs"/>
              </a:rPr>
              <a:t>: Hands‑on proof and skill transfer</a:t>
            </a:r>
          </a:p>
        </p:txBody>
      </p:sp>
    </p:spTree>
    <p:extLst>
      <p:ext uri="{BB962C8B-B14F-4D97-AF65-F5344CB8AC3E}">
        <p14:creationId xmlns:p14="http://schemas.microsoft.com/office/powerpoint/2010/main" val="51238518"/>
      </p:ext>
    </p:extLst>
  </p:cSld>
  <p:clrMapOvr>
    <a:masterClrMapping/>
  </p:clrMapOvr>
  <p:transition>
    <p:fade/>
  </p:transition>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09AB-4F39-731A-7468-1C091869D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F868A-4869-030C-AAB9-0E8BFCE8F0C1}"/>
              </a:ext>
            </a:extLst>
          </p:cNvPr>
          <p:cNvSpPr>
            <a:spLocks noGrp="1"/>
          </p:cNvSpPr>
          <p:nvPr>
            <p:ph type="title" idx="4294967295"/>
          </p:nvPr>
        </p:nvSpPr>
        <p:spPr>
          <a:xfrm>
            <a:off x="94492" y="17530"/>
            <a:ext cx="10087733" cy="492443"/>
          </a:xfrm>
        </p:spPr>
        <p:txBody>
          <a:bodyPr/>
          <a:lstStyle/>
          <a:p>
            <a:r>
              <a:rPr kumimoji="0" lang="en-US" sz="3200" b="0" i="0" u="none" strike="noStrike" kern="1200" cap="none" spc="-50" normalizeH="0" baseline="0" noProof="0">
                <a:ln w="3175">
                  <a:noFill/>
                </a:ln>
                <a:solidFill>
                  <a:schemeClr val="tx1"/>
                </a:solidFill>
                <a:effectLst/>
                <a:uLnTx/>
                <a:uFillTx/>
                <a:cs typeface="Segoe UI Semibold" panose="020B0702040204020203" pitchFamily="34" charset="0"/>
              </a:rPr>
              <a:t>Build //localhost </a:t>
            </a:r>
            <a:r>
              <a:rPr lang="en-US" sz="3200">
                <a:solidFill>
                  <a:schemeClr val="tx1">
                    <a:lumMod val="75000"/>
                  </a:schemeClr>
                </a:solidFill>
                <a:cs typeface="Segoe UI"/>
              </a:rPr>
              <a:t>Content Catalog (1 of 2)</a:t>
            </a:r>
          </a:p>
        </p:txBody>
      </p:sp>
      <p:graphicFrame>
        <p:nvGraphicFramePr>
          <p:cNvPr id="7" name="Table 6">
            <a:extLst>
              <a:ext uri="{FF2B5EF4-FFF2-40B4-BE49-F238E27FC236}">
                <a16:creationId xmlns:a16="http://schemas.microsoft.com/office/drawing/2014/main" id="{1ACE59C3-FBFB-96DF-281E-E58B6940F2B7}"/>
              </a:ext>
            </a:extLst>
          </p:cNvPr>
          <p:cNvGraphicFramePr>
            <a:graphicFrameLocks noGrp="1"/>
          </p:cNvGraphicFramePr>
          <p:nvPr/>
        </p:nvGraphicFramePr>
        <p:xfrm>
          <a:off x="0" y="524026"/>
          <a:ext cx="12207240" cy="6333976"/>
        </p:xfrm>
        <a:graphic>
          <a:graphicData uri="http://schemas.openxmlformats.org/drawingml/2006/table">
            <a:tbl>
              <a:tblPr firstRow="1" firstCol="1">
                <a:tableStyleId>{F5AB1C69-6EDB-4FF4-983F-18BD219EF322}</a:tableStyleId>
              </a:tblPr>
              <a:tblGrid>
                <a:gridCol w="917838">
                  <a:extLst>
                    <a:ext uri="{9D8B030D-6E8A-4147-A177-3AD203B41FA5}">
                      <a16:colId xmlns:a16="http://schemas.microsoft.com/office/drawing/2014/main" val="449987363"/>
                    </a:ext>
                  </a:extLst>
                </a:gridCol>
                <a:gridCol w="826054">
                  <a:extLst>
                    <a:ext uri="{9D8B030D-6E8A-4147-A177-3AD203B41FA5}">
                      <a16:colId xmlns:a16="http://schemas.microsoft.com/office/drawing/2014/main" val="3191833986"/>
                    </a:ext>
                  </a:extLst>
                </a:gridCol>
                <a:gridCol w="1835675">
                  <a:extLst>
                    <a:ext uri="{9D8B030D-6E8A-4147-A177-3AD203B41FA5}">
                      <a16:colId xmlns:a16="http://schemas.microsoft.com/office/drawing/2014/main" val="3407978081"/>
                    </a:ext>
                  </a:extLst>
                </a:gridCol>
                <a:gridCol w="1376756">
                  <a:extLst>
                    <a:ext uri="{9D8B030D-6E8A-4147-A177-3AD203B41FA5}">
                      <a16:colId xmlns:a16="http://schemas.microsoft.com/office/drawing/2014/main" val="2707699997"/>
                    </a:ext>
                  </a:extLst>
                </a:gridCol>
                <a:gridCol w="7250917">
                  <a:extLst>
                    <a:ext uri="{9D8B030D-6E8A-4147-A177-3AD203B41FA5}">
                      <a16:colId xmlns:a16="http://schemas.microsoft.com/office/drawing/2014/main" val="2245659779"/>
                    </a:ext>
                  </a:extLst>
                </a:gridCol>
              </a:tblGrid>
              <a:tr h="352695">
                <a:tc>
                  <a:txBody>
                    <a:bodyPr/>
                    <a:lstStyle/>
                    <a:p>
                      <a:pPr algn="ctr" fontAlgn="ctr"/>
                      <a:r>
                        <a:rPr lang="en-US" sz="900" b="1" u="none" strike="noStrike" noProof="0">
                          <a:solidFill>
                            <a:srgbClr val="FFFFFF"/>
                          </a:solidFill>
                          <a:effectLst/>
                        </a:rPr>
                        <a:t>TRACK</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TYPE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TITLE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i="0" u="none" strike="noStrike" noProof="0">
                          <a:solidFill>
                            <a:srgbClr val="FFFFFF"/>
                          </a:solidFill>
                          <a:effectLst/>
                          <a:latin typeface="Segoe UI"/>
                          <a:cs typeface="Segoe UI"/>
                        </a:rPr>
                        <a:t>LINKS</a:t>
                      </a: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 ABSTRACT</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2738175338"/>
                  </a:ext>
                </a:extLst>
              </a:tr>
              <a:tr h="822955">
                <a:tc rowSpan="4">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1" kern="1200" noProof="0">
                          <a:solidFill>
                            <a:schemeClr val="tx1"/>
                          </a:solidFill>
                        </a:rPr>
                        <a:t>Developer Tools &amp; Frameworks</a:t>
                      </a:r>
                    </a:p>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000" b="1" kern="1200" noProof="0">
                        <a:solidFill>
                          <a:schemeClr val="tx1"/>
                        </a:solidFill>
                      </a:endParaRPr>
                    </a:p>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noProof="0">
                        <a:solidFill>
                          <a:schemeClr val="tx1"/>
                        </a:solidFill>
                        <a:effectLst/>
                        <a:latin typeface="Segoe UI" panose="020B0502040204020203" pitchFamily="34" charset="0"/>
                        <a:cs typeface="Segoe UI" panose="020B0502040204020203" pitchFamily="34" charset="0"/>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1BC06"/>
                    </a:solidFill>
                  </a:tcPr>
                </a:tc>
                <a:tc rowSpan="3">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900" b="1" u="none" strike="noStrike" noProof="0">
                          <a:solidFill>
                            <a:schemeClr val="bg1"/>
                          </a:solidFill>
                          <a:effectLst/>
                          <a:latin typeface="+mn-lt"/>
                        </a:rPr>
                        <a:t>Breakouts</a:t>
                      </a:r>
                      <a:endParaRPr lang="en-US" sz="900" b="1" i="0" u="none" strike="noStrike" noProof="0">
                        <a:solidFill>
                          <a:schemeClr val="bg1"/>
                        </a:solidFill>
                        <a:effectLst/>
                        <a:latin typeface="+mn-lt"/>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strike="noStrike" kern="1200" noProof="0">
                          <a:solidFill>
                            <a:schemeClr val="bg1"/>
                          </a:solidFill>
                          <a:latin typeface="+mj-lt"/>
                          <a:ea typeface="+mn-ea"/>
                          <a:cs typeface="Segoe UI"/>
                        </a:rPr>
                        <a:t>BRK207: GitHub Copilot in Visual Studio: Agents That Debug, Profile, and Test</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Every IDE has agentic code generation now, but Visual Studio goes further with built-in agents that tackle what code generation can't. In this demo-heavy session, you'll see agents root-cause bugs using live runtime behavior, pinpoint performance bottlenecks and recommend targeted fixes, and build test coverage to catch regressions before they ship. These aren't just code-writing agents. They help enterprise C#, .NET, and C++ developers improve code quality with expert-level diagnostics.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358284956"/>
                  </a:ext>
                </a:extLst>
              </a:tr>
              <a:tr h="859721">
                <a:tc vMerge="1">
                  <a:txBody>
                    <a:bodyPr/>
                    <a:lstStyle/>
                    <a:p>
                      <a:endParaRPr lang="en-US"/>
                    </a:p>
                  </a:txBody>
                  <a:tcPr>
                    <a:lnT w="38100" cap="flat" cmpd="sng" algn="ctr">
                      <a:solidFill>
                        <a:schemeClr val="bg1"/>
                      </a:solidFill>
                      <a:prstDash val="solid"/>
                      <a:round/>
                      <a:headEnd type="none" w="med" len="med"/>
                      <a:tailEnd type="none" w="med" len="med"/>
                    </a:lnT>
                  </a:tcPr>
                </a:tc>
                <a:tc vMerge="1">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endParaRPr lang="en-US" sz="900" b="1" noProof="0">
                        <a:solidFill>
                          <a:schemeClr val="bg1"/>
                        </a:solidFill>
                        <a:latin typeface="+mn-lt"/>
                      </a:endParaRPr>
                    </a:p>
                  </a:txBody>
                  <a:tcPr anchor="ctr">
                    <a:solidFill>
                      <a:srgbClr val="F2EAE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a:solidFill>
                            <a:schemeClr val="bg1"/>
                          </a:solidFill>
                          <a:latin typeface="+mj-lt"/>
                          <a:ea typeface="+mn-ea"/>
                          <a:cs typeface="Segoe UI" panose="020B0502040204020203" pitchFamily="34" charset="0"/>
                        </a:rPr>
                        <a:t>BRK203: From CLI to PR: Automating the path to merged code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a:buNone/>
                      </a:pPr>
                      <a:r>
                        <a:rPr lang="en-US" sz="900">
                          <a:solidFill>
                            <a:schemeClr val="bg1"/>
                          </a:solidFill>
                          <a:effectLst/>
                          <a:latin typeface="+mn-lt"/>
                          <a:ea typeface="DengXian" panose="02010600030101010101" pitchFamily="2" charset="-122"/>
                          <a:cs typeface="Aptos" panose="020B0004020202020204" pitchFamily="34" charset="0"/>
                        </a:rPr>
                        <a:t>Everyone talks about agents, but the real challenge is applying them to daily sprints. Moving beyond chat, we'll show how GitHub Copilot functions as an agentic partner in your workflow by live-coding a full cycle—from planning in the terminal to delegating work to the cloud and automating PR reviews. No high-level abstractions here. Just technical mechanics: context management, advanced features with Copilot CLI, and the patterns that make agentic workflows actually stick.</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2543478911"/>
                  </a:ext>
                </a:extLst>
              </a:tr>
              <a:tr h="859721">
                <a:tc vMerge="1">
                  <a:txBody>
                    <a:bodyPr/>
                    <a:lstStyle/>
                    <a:p>
                      <a:endParaRPr lang="en-US"/>
                    </a:p>
                  </a:txBody>
                  <a:tcPr/>
                </a:tc>
                <a:tc vMerge="1">
                  <a:txBody>
                    <a:bodyPr/>
                    <a:lstStyle/>
                    <a:p>
                      <a:endParaRPr/>
                    </a:p>
                  </a:txBody>
                  <a:tcPr anchor="ct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a:solidFill>
                            <a:schemeClr val="bg1"/>
                          </a:solidFill>
                          <a:latin typeface="+mj-lt"/>
                          <a:ea typeface="+mn-ea"/>
                          <a:cs typeface="Segoe UI" panose="020B0502040204020203" pitchFamily="34" charset="0"/>
                        </a:rPr>
                        <a:t>BRK206: Your agent, anywhere: </a:t>
                      </a:r>
                      <a:r>
                        <a:rPr lang="en-US" sz="900" b="0" i="0" u="none" strike="noStrike" kern="1200" err="1">
                          <a:solidFill>
                            <a:schemeClr val="bg1"/>
                          </a:solidFill>
                          <a:latin typeface="+mj-lt"/>
                          <a:ea typeface="+mn-ea"/>
                          <a:cs typeface="Segoe UI" panose="020B0502040204020203" pitchFamily="34" charset="0"/>
                        </a:rPr>
                        <a:t>MultiClient</a:t>
                      </a:r>
                      <a:r>
                        <a:rPr lang="en-US" sz="900" b="0" i="0" u="none" strike="noStrike" kern="1200">
                          <a:solidFill>
                            <a:schemeClr val="bg1"/>
                          </a:solidFill>
                          <a:latin typeface="+mj-lt"/>
                          <a:ea typeface="+mn-ea"/>
                          <a:cs typeface="Segoe UI" panose="020B0502040204020203" pitchFamily="34" charset="0"/>
                        </a:rPr>
                        <a:t>, </a:t>
                      </a:r>
                      <a:r>
                        <a:rPr lang="en-US" sz="900" b="0" i="0" u="none" strike="noStrike" kern="1200" err="1">
                          <a:solidFill>
                            <a:schemeClr val="bg1"/>
                          </a:solidFill>
                          <a:latin typeface="+mj-lt"/>
                          <a:ea typeface="+mn-ea"/>
                          <a:cs typeface="Segoe UI" panose="020B0502040204020203" pitchFamily="34" charset="0"/>
                        </a:rPr>
                        <a:t>MultiDevice</a:t>
                      </a:r>
                      <a:r>
                        <a:rPr lang="en-US" sz="900" b="0" i="0" u="none" strike="noStrike" kern="1200">
                          <a:solidFill>
                            <a:schemeClr val="bg1"/>
                          </a:solidFill>
                          <a:latin typeface="+mj-lt"/>
                          <a:ea typeface="+mn-ea"/>
                          <a:cs typeface="Segoe UI" panose="020B0502040204020203" pitchFamily="34" charset="0"/>
                        </a:rPr>
                        <a:t> with GitHub Copilot SDK</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7">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8">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Agents are powerful on your machine, but what happens when you need them everywhere else? In this session, we'll show how GitHub Copilot SDK lets you build an agent, embed it in an app, and take it with you across devices and into the cloud. You'll see how to go from a local agent to one you can access on your phone, move between machines, and run across multiple clients. If you've been working with agents locally and wondering what the next step looks like, this is it.</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50830060"/>
                  </a:ext>
                </a:extLst>
              </a:tr>
              <a:tr h="859721">
                <a:tc vMerge="1">
                  <a:txBody>
                    <a:bodyPr/>
                    <a:lstStyle/>
                    <a:p>
                      <a:endParaRPr lang="en-US"/>
                    </a:p>
                  </a:txBody>
                  <a:tcPr>
                    <a:lnT w="12700" cap="flat" cmpd="sng" algn="ctr">
                      <a:solidFill>
                        <a:schemeClr val="tx2">
                          <a:lumMod val="75000"/>
                        </a:schemeClr>
                      </a:solidFill>
                      <a:prstDash val="solid"/>
                      <a:round/>
                      <a:headEnd type="none" w="med" len="med"/>
                      <a:tailEnd type="none" w="med" len="med"/>
                    </a:lnT>
                  </a:tcPr>
                </a:tc>
                <a:tc>
                  <a:txBody>
                    <a:bodyPr/>
                    <a:lstStyle/>
                    <a:p>
                      <a:pPr marL="0" marR="0" lvl="0" indent="0" algn="ctr" defTabSz="932742" rtl="0" eaLnBrk="1" fontAlgn="auto" latinLnBrk="0" hangingPunct="1">
                        <a:lnSpc>
                          <a:spcPct val="90000"/>
                        </a:lnSpc>
                        <a:spcBef>
                          <a:spcPts val="0"/>
                        </a:spcBef>
                        <a:spcAft>
                          <a:spcPts val="333"/>
                        </a:spcAft>
                        <a:buClrTx/>
                        <a:buSzTx/>
                        <a:buFontTx/>
                        <a:buNone/>
                        <a:tabLst/>
                        <a:defRPr/>
                      </a:pPr>
                      <a:r>
                        <a:rPr kumimoji="0" lang="en-US" sz="900" b="1" u="none" strike="noStrike" kern="1200" cap="none" spc="0" normalizeH="0" baseline="0" noProof="0">
                          <a:ln>
                            <a:noFill/>
                          </a:ln>
                          <a:solidFill>
                            <a:schemeClr val="bg1"/>
                          </a:solidFill>
                          <a:effectLst/>
                          <a:uLnTx/>
                          <a:uFillTx/>
                          <a:latin typeface="+mn-lt"/>
                        </a:rPr>
                        <a:t>Lab</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900" b="0" i="0" u="none" strike="noStrike">
                          <a:solidFill>
                            <a:schemeClr val="bg1"/>
                          </a:solidFill>
                          <a:effectLst/>
                          <a:latin typeface="+mj-lt"/>
                        </a:rPr>
                        <a:t>LAB501: From zero to deployed on Azure with AI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1000" b="1" i="0" u="none" strike="noStrike" kern="1200">
                          <a:solidFill>
                            <a:schemeClr val="accent1"/>
                          </a:solidFill>
                          <a:effectLst/>
                          <a:latin typeface="+mn-lt"/>
                          <a:ea typeface="+mn-ea"/>
                          <a:cs typeface="+mn-cs"/>
                          <a:hlinkClick r:id="rId9">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kern="1200">
                        <a:solidFill>
                          <a:schemeClr val="accent1"/>
                        </a:solidFill>
                        <a:effectLst/>
                        <a:latin typeface="+mn-lt"/>
                        <a:ea typeface="+mn-ea"/>
                        <a:cs typeface="+mn-cs"/>
                      </a:endParaRPr>
                    </a:p>
                    <a:p>
                      <a:pPr algn="l" fontAlgn="ctr">
                        <a:buNone/>
                      </a:pPr>
                      <a:r>
                        <a:rPr lang="en-US" sz="1000" b="1" i="0" u="none" strike="noStrike" kern="1200">
                          <a:solidFill>
                            <a:schemeClr val="accent1"/>
                          </a:solidFill>
                          <a:effectLst/>
                          <a:latin typeface="+mn-lt"/>
                          <a:ea typeface="+mn-ea"/>
                          <a:cs typeface="+mn-cs"/>
                          <a:hlinkClick r:id="rId10">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a:solidFill>
                          <a:schemeClr val="accent1"/>
                        </a:solidFill>
                        <a:effectLst/>
                        <a:latin typeface="+mn-lt"/>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What happens when you let AI agents do the building? In this hands-on lab, you'll go from an empty terminal to a deployed app on Azure — with GitHub Copilot CLI and coding agents handling the scaffolding, coding, debugging, and deployment. You'll use the new Azure skills to provision resources and wire up services through natural language, no portal required. This isn't a demo you watch. You'll walk out with a real, working dev workflow you can take straight to your next project.</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extLst>
                  <a:ext uri="{0D108BD9-81ED-4DB2-BD59-A6C34878D82A}">
                    <a16:rowId xmlns:a16="http://schemas.microsoft.com/office/drawing/2014/main" val="334083537"/>
                  </a:ext>
                </a:extLst>
              </a:tr>
              <a:tr h="859721">
                <a:tc rowSpan="3">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1000" b="1" u="none" strike="noStrike" noProof="0">
                          <a:solidFill>
                            <a:schemeClr val="tx1"/>
                          </a:solidFill>
                          <a:effectLst/>
                        </a:rPr>
                        <a:t>Cloud Platform &amp; Data</a:t>
                      </a:r>
                      <a:endParaRPr lang="en-US" sz="1000" b="1" i="0" u="none" strike="noStrike" noProof="0">
                        <a:solidFill>
                          <a:schemeClr val="tx1"/>
                        </a:solidFill>
                        <a:effectLst/>
                        <a:latin typeface="Segoe UI"/>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81BC06"/>
                    </a:solidFill>
                  </a:tcPr>
                </a:tc>
                <a:tc rowSpan="3">
                  <a:txBody>
                    <a:bodyPr/>
                    <a:lstStyle/>
                    <a:p>
                      <a:pPr marL="0" marR="0" lvl="0" indent="0" algn="ctr" rtl="0">
                        <a:lnSpc>
                          <a:spcPct val="90000"/>
                        </a:lnSpc>
                        <a:spcBef>
                          <a:spcPts val="0"/>
                        </a:spcBef>
                        <a:spcAft>
                          <a:spcPts val="333"/>
                        </a:spcAft>
                        <a:buClrTx/>
                        <a:buSzTx/>
                        <a:buFontTx/>
                        <a:buNone/>
                      </a:pPr>
                      <a:r>
                        <a:rPr lang="en-US" sz="900" b="1" noProof="0">
                          <a:solidFill>
                            <a:schemeClr val="bg1"/>
                          </a:solidFill>
                          <a:latin typeface="+mn-lt"/>
                        </a:rPr>
                        <a:t>Breakouts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kern="1200" noProof="0">
                          <a:solidFill>
                            <a:schemeClr val="bg1"/>
                          </a:solidFill>
                          <a:latin typeface="+mj-lt"/>
                          <a:ea typeface="+mn-ea"/>
                          <a:cs typeface="Segoe UI" panose="020B0502040204020203" pitchFamily="34" charset="0"/>
                        </a:rPr>
                        <a:t>BRK221: Idea to production-ready agent in seconds on AI-native runtime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1">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2">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Agentic apps behave differently from traditional services. They make decisions, coordinate steps, and react to changing inputs. This session shows how to run agentic workloads on a fast, AI native runtime on Azure Container Apps. The focus is on reliability and speed so you can move from idea to production‑ready agents. We’ll cover patterns for deployment, configuration, safe scaling for bursty traffic, and observability so teams can run agentic systems in production without surprises.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339659495"/>
                  </a:ext>
                </a:extLst>
              </a:tr>
              <a:tr h="859721">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tc>
                <a:tc vMerge="1">
                  <a:txBody>
                    <a:bodyPr/>
                    <a:lstStyle/>
                    <a:p>
                      <a:endParaRPr/>
                    </a:p>
                  </a:txBody>
                  <a:tcPr anchor="ctr">
                    <a:solidFill>
                      <a:srgbClr val="F2EAE3"/>
                    </a:solidFill>
                  </a:tcPr>
                </a:tc>
                <a:tc>
                  <a:txBody>
                    <a:bodyPr/>
                    <a:lstStyle/>
                    <a:p>
                      <a:pPr marL="0" indent="0">
                        <a:spcBef>
                          <a:spcPts val="300"/>
                        </a:spcBef>
                        <a:spcAft>
                          <a:spcPts val="0"/>
                        </a:spcAft>
                        <a:buFont typeface="Arial" panose="020B0604020202020204" pitchFamily="34" charset="0"/>
                        <a:buNone/>
                      </a:pPr>
                      <a:r>
                        <a:rPr lang="en-US" sz="900" b="0" i="0" u="none" strike="noStrike" noProof="0">
                          <a:solidFill>
                            <a:schemeClr val="bg1"/>
                          </a:solidFill>
                          <a:latin typeface="+mj-lt"/>
                          <a:cs typeface="Segoe UI" panose="020B0502040204020203" pitchFamily="34" charset="0"/>
                        </a:rPr>
                        <a:t>BRK222: The honest practitioner's take on agentic AI on Kubernetes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Agentic AI workloads don't behave like normal services. They're stateful, bursty, multi-step, and often span more than a single cluster. Most teams figure this out the hard way. This session is for developers building agentic AI in production. We'll show you how to get the most out of Kubernetes for training, inference, and agent orchestration, covering purpose-built tooling, managed options, open-source inference at scale, and AI-assisted dev tools that support real-world AI operations.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85520942"/>
                  </a:ext>
                </a:extLst>
              </a:tr>
              <a:tr h="859721">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tc>
                <a:tc vMerge="1">
                  <a:txBody>
                    <a:bodyPr/>
                    <a:lstStyle/>
                    <a:p>
                      <a:endParaRPr/>
                    </a:p>
                  </a:txBody>
                  <a:tcPr anchor="ct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noProof="0">
                          <a:solidFill>
                            <a:schemeClr val="bg1"/>
                          </a:solidFill>
                          <a:latin typeface="+mj-lt"/>
                          <a:cs typeface="Segoe UI" panose="020B0502040204020203" pitchFamily="34" charset="0"/>
                        </a:rPr>
                        <a:t>BRK223: From rows to reasoning: Designing databases for AI apps and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AI applications and agents require data platforms designed for reasoning, not just transactions. Traditional architectures force developers to stitch data systems together, adding latency and complexity. In this demo‑rich session, we’ll show the latest innovations in SQL Database and Cosmos DB, then build an app on Azure </a:t>
                      </a:r>
                      <a:r>
                        <a:rPr lang="en-US" sz="900" b="0" i="0" u="none" strike="noStrike" kern="1200" err="1">
                          <a:solidFill>
                            <a:schemeClr val="bg1"/>
                          </a:solidFill>
                          <a:effectLst/>
                          <a:latin typeface="+mn-lt"/>
                          <a:ea typeface="+mn-ea"/>
                          <a:cs typeface="+mn-cs"/>
                        </a:rPr>
                        <a:t>HorizonDB</a:t>
                      </a:r>
                      <a:r>
                        <a:rPr lang="en-US" sz="900" b="0" i="0" u="none" strike="noStrike" kern="1200">
                          <a:solidFill>
                            <a:schemeClr val="bg1"/>
                          </a:solidFill>
                          <a:effectLst/>
                          <a:latin typeface="+mn-lt"/>
                          <a:ea typeface="+mn-ea"/>
                          <a:cs typeface="+mn-cs"/>
                        </a:rPr>
                        <a:t>, Azure’s new cloud‑native PostgreSQL service, to show how AI apps built directly in the database simplifies design and enables reasoning over operational data.</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413494998"/>
                  </a:ext>
                </a:extLst>
              </a:tr>
            </a:tbl>
          </a:graphicData>
        </a:graphic>
      </p:graphicFrame>
      <p:sp>
        <p:nvSpPr>
          <p:cNvPr id="3" name="Rectangle: Rounded Corners 2">
            <a:extLst>
              <a:ext uri="{FF2B5EF4-FFF2-40B4-BE49-F238E27FC236}">
                <a16:creationId xmlns:a16="http://schemas.microsoft.com/office/drawing/2014/main" id="{92E73CC1-75A3-A4EA-9D2B-AF92D41940AB}"/>
              </a:ext>
            </a:extLst>
          </p:cNvPr>
          <p:cNvSpPr/>
          <p:nvPr/>
        </p:nvSpPr>
        <p:spPr bwMode="auto">
          <a:xfrm>
            <a:off x="11054994" y="70104"/>
            <a:ext cx="1043462" cy="257908"/>
          </a:xfrm>
          <a:prstGeom prst="round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5.21.26</a:t>
            </a:r>
          </a:p>
        </p:txBody>
      </p:sp>
    </p:spTree>
    <p:extLst>
      <p:ext uri="{BB962C8B-B14F-4D97-AF65-F5344CB8AC3E}">
        <p14:creationId xmlns:p14="http://schemas.microsoft.com/office/powerpoint/2010/main" val="308779409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D67E8-B8A5-CD8F-27C6-9AF7B8561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CA381-F71A-D37C-07CE-C53810360476}"/>
              </a:ext>
            </a:extLst>
          </p:cNvPr>
          <p:cNvSpPr>
            <a:spLocks noGrp="1"/>
          </p:cNvSpPr>
          <p:nvPr>
            <p:ph type="title" idx="4294967295"/>
          </p:nvPr>
        </p:nvSpPr>
        <p:spPr>
          <a:xfrm>
            <a:off x="94492" y="17530"/>
            <a:ext cx="10087733" cy="492443"/>
          </a:xfrm>
        </p:spPr>
        <p:txBody>
          <a:bodyPr/>
          <a:lstStyle/>
          <a:p>
            <a:r>
              <a:rPr kumimoji="0" lang="en-US" sz="3200" b="0" i="0" u="none" strike="noStrike" kern="1200" cap="none" spc="-50" normalizeH="0" baseline="0" noProof="0">
                <a:ln w="3175">
                  <a:noFill/>
                </a:ln>
                <a:solidFill>
                  <a:schemeClr val="tx1"/>
                </a:solidFill>
                <a:effectLst/>
                <a:uLnTx/>
                <a:uFillTx/>
                <a:cs typeface="Segoe UI Semibold" panose="020B0702040204020203" pitchFamily="34" charset="0"/>
              </a:rPr>
              <a:t>Build //localhost </a:t>
            </a:r>
            <a:r>
              <a:rPr lang="en-US" sz="3200">
                <a:solidFill>
                  <a:schemeClr val="tx1">
                    <a:lumMod val="75000"/>
                  </a:schemeClr>
                </a:solidFill>
                <a:cs typeface="Segoe UI"/>
              </a:rPr>
              <a:t>Content Catalog (2 of 2)</a:t>
            </a:r>
          </a:p>
        </p:txBody>
      </p:sp>
      <p:graphicFrame>
        <p:nvGraphicFramePr>
          <p:cNvPr id="7" name="Table 6">
            <a:extLst>
              <a:ext uri="{FF2B5EF4-FFF2-40B4-BE49-F238E27FC236}">
                <a16:creationId xmlns:a16="http://schemas.microsoft.com/office/drawing/2014/main" id="{A9E512FF-C2AB-4B72-0388-E97B2B5742E2}"/>
              </a:ext>
            </a:extLst>
          </p:cNvPr>
          <p:cNvGraphicFramePr>
            <a:graphicFrameLocks noGrp="1"/>
          </p:cNvGraphicFramePr>
          <p:nvPr/>
        </p:nvGraphicFramePr>
        <p:xfrm>
          <a:off x="0" y="543669"/>
          <a:ext cx="12207240" cy="6306324"/>
        </p:xfrm>
        <a:graphic>
          <a:graphicData uri="http://schemas.openxmlformats.org/drawingml/2006/table">
            <a:tbl>
              <a:tblPr firstRow="1" firstCol="1">
                <a:tableStyleId>{F5AB1C69-6EDB-4FF4-983F-18BD219EF322}</a:tableStyleId>
              </a:tblPr>
              <a:tblGrid>
                <a:gridCol w="917838">
                  <a:extLst>
                    <a:ext uri="{9D8B030D-6E8A-4147-A177-3AD203B41FA5}">
                      <a16:colId xmlns:a16="http://schemas.microsoft.com/office/drawing/2014/main" val="449987363"/>
                    </a:ext>
                  </a:extLst>
                </a:gridCol>
                <a:gridCol w="826054">
                  <a:extLst>
                    <a:ext uri="{9D8B030D-6E8A-4147-A177-3AD203B41FA5}">
                      <a16:colId xmlns:a16="http://schemas.microsoft.com/office/drawing/2014/main" val="3191833986"/>
                    </a:ext>
                  </a:extLst>
                </a:gridCol>
                <a:gridCol w="1835675">
                  <a:extLst>
                    <a:ext uri="{9D8B030D-6E8A-4147-A177-3AD203B41FA5}">
                      <a16:colId xmlns:a16="http://schemas.microsoft.com/office/drawing/2014/main" val="3407978081"/>
                    </a:ext>
                  </a:extLst>
                </a:gridCol>
                <a:gridCol w="1376756">
                  <a:extLst>
                    <a:ext uri="{9D8B030D-6E8A-4147-A177-3AD203B41FA5}">
                      <a16:colId xmlns:a16="http://schemas.microsoft.com/office/drawing/2014/main" val="1117096041"/>
                    </a:ext>
                  </a:extLst>
                </a:gridCol>
                <a:gridCol w="7250917">
                  <a:extLst>
                    <a:ext uri="{9D8B030D-6E8A-4147-A177-3AD203B41FA5}">
                      <a16:colId xmlns:a16="http://schemas.microsoft.com/office/drawing/2014/main" val="2245659779"/>
                    </a:ext>
                  </a:extLst>
                </a:gridCol>
              </a:tblGrid>
              <a:tr h="333871">
                <a:tc>
                  <a:txBody>
                    <a:bodyPr/>
                    <a:lstStyle/>
                    <a:p>
                      <a:pPr algn="ctr" fontAlgn="ctr"/>
                      <a:r>
                        <a:rPr lang="en-US" sz="900" b="1" u="none" strike="noStrike" noProof="0">
                          <a:solidFill>
                            <a:srgbClr val="FFFFFF"/>
                          </a:solidFill>
                          <a:effectLst/>
                        </a:rPr>
                        <a:t>TRACK</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TYPE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TITLE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i="0" u="none" strike="noStrike" noProof="0">
                          <a:solidFill>
                            <a:srgbClr val="FFFFFF"/>
                          </a:solidFill>
                          <a:effectLst/>
                          <a:latin typeface="Segoe UI"/>
                          <a:cs typeface="Segoe UI"/>
                        </a:rPr>
                        <a:t>LINKS</a:t>
                      </a: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 ABSTRACT</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2738175338"/>
                  </a:ext>
                </a:extLst>
              </a:tr>
              <a:tr h="779032">
                <a:tc rowSpan="3">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1000" b="1" u="none" strike="noStrike" noProof="0">
                          <a:solidFill>
                            <a:schemeClr val="tx1"/>
                          </a:solidFill>
                          <a:effectLst/>
                        </a:rPr>
                        <a:t>Agents &amp; Apps</a:t>
                      </a:r>
                      <a:endParaRPr lang="en-US" sz="1000" b="1" i="0" u="none" strike="noStrike" noProof="0">
                        <a:solidFill>
                          <a:schemeClr val="tx1"/>
                        </a:solidFill>
                        <a:effectLst/>
                        <a:latin typeface="Segoe UI"/>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1BC06"/>
                    </a:solidFill>
                  </a:tcPr>
                </a:tc>
                <a:tc rowSpan="3">
                  <a:txBody>
                    <a:bodyPr/>
                    <a:lstStyle/>
                    <a:p>
                      <a:pPr marL="0" marR="0" indent="0" algn="ctr" rtl="0" eaLnBrk="1" fontAlgn="ctr" latinLnBrk="0" hangingPunct="1">
                        <a:spcBef>
                          <a:spcPts val="0"/>
                        </a:spcBef>
                        <a:spcAft>
                          <a:spcPts val="0"/>
                        </a:spcAft>
                      </a:pPr>
                      <a:r>
                        <a:rPr lang="en-US" sz="900" b="1" u="none" strike="noStrike" kern="1200" noProof="0">
                          <a:solidFill>
                            <a:schemeClr val="bg1"/>
                          </a:solidFill>
                          <a:effectLst/>
                          <a:latin typeface="+mn-lt"/>
                        </a:rPr>
                        <a:t>Breakouts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noProof="0">
                          <a:solidFill>
                            <a:schemeClr val="bg1"/>
                          </a:solidFill>
                          <a:latin typeface="+mj-lt"/>
                          <a:cs typeface="Segoe UI" panose="020B0502040204020203" pitchFamily="34" charset="0"/>
                        </a:rPr>
                        <a:t>BRK240: Build context‑aware agents at scale with Microsoft IQ</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noProof="0">
                          <a:solidFill>
                            <a:schemeClr val="bg1"/>
                          </a:solidFill>
                          <a:latin typeface="+mn-lt"/>
                          <a:cs typeface="Segoe UI"/>
                        </a:rPr>
                        <a:t>High performance agents are built on intelligence that brings together context, enterprise data, orchestration, and governance. Learn how Foundry IQ, Fabric IQ, and Work IQ provide the enterprise intelligence layer for AI agents. Design agents that can search across organizational knowledge, reason over business data, and operate with awareness of people and work signals. Take action within trusted boundaries, providing a practical foundation for building scalable and reliable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103279850"/>
                  </a:ext>
                </a:extLst>
              </a:tr>
              <a:tr h="779032">
                <a:tc vMerge="1">
                  <a:txBody>
                    <a:bodyPr/>
                    <a:lstStyle/>
                    <a:p>
                      <a:endParaRPr lang="en-US"/>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81BC06"/>
                    </a:solidFill>
                  </a:tcPr>
                </a:tc>
                <a:tc vMerge="1">
                  <a:txBody>
                    <a:bodyPr/>
                    <a:lstStyle/>
                    <a:p>
                      <a:pPr marL="0" marR="0" indent="0" algn="l" rtl="0" eaLnBrk="1" fontAlgn="ctr" latinLnBrk="0" hangingPunct="1">
                        <a:spcBef>
                          <a:spcPts val="0"/>
                        </a:spcBef>
                        <a:spcAft>
                          <a:spcPts val="0"/>
                        </a:spcAft>
                      </a:pPr>
                      <a:endParaRPr lang="en-US" sz="900" b="1" i="0" u="none" strike="noStrike" kern="1200" noProof="0">
                        <a:solidFill>
                          <a:srgbClr val="000000"/>
                        </a:solidFill>
                        <a:effectLst/>
                        <a:latin typeface="+mn-lt"/>
                        <a:ea typeface="+mn-ea"/>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noProof="0">
                          <a:solidFill>
                            <a:schemeClr val="bg1"/>
                          </a:solidFill>
                          <a:latin typeface="+mj-lt"/>
                          <a:cs typeface="Segoe UI" panose="020B0502040204020203" pitchFamily="34" charset="0"/>
                        </a:rPr>
                        <a:t>BRK241: From prototype to production: build and run agents at scale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noProof="0">
                          <a:solidFill>
                            <a:schemeClr val="bg1"/>
                          </a:solidFill>
                          <a:latin typeface="+mn-lt"/>
                          <a:cs typeface="Segoe UI"/>
                        </a:rPr>
                        <a:t>AI agents are transforming how developers build software—but shipping production-grade agents demands more. This session walks through the end-to-end lifecycle of building AI agents with Foundry Agent Service and Microsoft Agent Framework. See how to go from local prototyping to enterprise-grade hosted deployment with identity, secure networking, evaluations, and lifecycle management. Learn how coding agents like GitHub Copilot integrate directly into the workflow.</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738002654"/>
                  </a:ext>
                </a:extLst>
              </a:tr>
              <a:tr h="779032">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81BC06"/>
                    </a:solidFill>
                  </a:tcPr>
                </a:tc>
                <a:tc vMerge="1">
                  <a:txBody>
                    <a:bodyPr/>
                    <a:lstStyle/>
                    <a:p>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noProof="0">
                          <a:solidFill>
                            <a:schemeClr val="bg1"/>
                          </a:solidFill>
                          <a:latin typeface="+mj-lt"/>
                          <a:cs typeface="Segoe UI" panose="020B0502040204020203" pitchFamily="34" charset="0"/>
                        </a:rPr>
                        <a:t>BRK243: Claw and agent harness in Microsoft Foundry</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7">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8">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noProof="0">
                          <a:solidFill>
                            <a:schemeClr val="bg1"/>
                          </a:solidFill>
                          <a:latin typeface="+mn-lt"/>
                          <a:cs typeface="Segoe UI"/>
                        </a:rPr>
                        <a:t>Go deep on multi-agent systems built on Microsoft Foundry, featuring Claw agent patterns and the hosted agents architecture. Explore long-running agents with triggers, state management, and file access—all natively supported on Foundry. See how coding agents built with GitHub Copilot SDK and Claude Agent SDK integrate into multi-agent workflows using Microsoft Agent Framework. Learn how to coordinate, host, and operate these systems with observability and continuous evals.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044331200"/>
                  </a:ext>
                </a:extLst>
              </a:tr>
              <a:tr h="612097">
                <a:tc row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1" kern="1200" noProof="0">
                          <a:solidFill>
                            <a:schemeClr val="tx1"/>
                          </a:solidFill>
                        </a:rPr>
                        <a:t>Working with Models</a:t>
                      </a:r>
                    </a:p>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noProof="0">
                        <a:solidFill>
                          <a:schemeClr val="tx1"/>
                        </a:solidFill>
                        <a:effectLst/>
                        <a:latin typeface="Segoe UI" panose="020B0502040204020203" pitchFamily="34" charset="0"/>
                        <a:cs typeface="Segoe UI" panose="020B0502040204020203" pitchFamily="34" charset="0"/>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1BC06"/>
                    </a:solidFill>
                  </a:tcPr>
                </a:tc>
                <a:tc rowSpan="2">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900" b="1" u="none" strike="noStrike" noProof="0">
                          <a:solidFill>
                            <a:schemeClr val="bg1"/>
                          </a:solidFill>
                          <a:effectLst/>
                          <a:latin typeface="+mn-lt"/>
                        </a:rPr>
                        <a:t>Breakouts</a:t>
                      </a:r>
                      <a:endParaRPr lang="en-US" sz="900" b="1" i="0" u="none" strike="noStrike" noProof="0">
                        <a:solidFill>
                          <a:schemeClr val="bg1"/>
                        </a:solidFill>
                        <a:effectLst/>
                        <a:latin typeface="+mn-lt"/>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kern="1200" noProof="0">
                          <a:solidFill>
                            <a:schemeClr val="bg1"/>
                          </a:solidFill>
                          <a:latin typeface="+mj-lt"/>
                          <a:ea typeface="+mn-ea"/>
                          <a:cs typeface="Segoe UI"/>
                        </a:rPr>
                        <a:t>BRK230: Build smarter AI Systems in Foundry as models and costs evolve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9">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0">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Discover how to quickly choose, integrate, and validate AI models inside Microsoft Foundry. Learn techniques for navigating thousands of model options, benchmarking performance, and streamlining your workflow with deep IDE support. Build faster, ship smarter, and stay on top of the evolving AI landscape.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358284956"/>
                  </a:ext>
                </a:extLst>
              </a:tr>
              <a:tr h="779032">
                <a:tc vMerge="1">
                  <a:txBody>
                    <a:bodyPr/>
                    <a:lstStyle/>
                    <a:p>
                      <a:endParaRPr lang="en-US"/>
                    </a:p>
                  </a:txBody>
                  <a:tcPr>
                    <a:lnT w="38100" cap="flat" cmpd="sng" algn="ctr">
                      <a:solidFill>
                        <a:schemeClr val="bg1"/>
                      </a:solidFill>
                      <a:prstDash val="solid"/>
                      <a:round/>
                      <a:headEnd type="none" w="med" len="med"/>
                      <a:tailEnd type="none" w="med" len="med"/>
                    </a:lnT>
                  </a:tcPr>
                </a:tc>
                <a:tc vMerge="1">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endParaRPr lang="en-US" sz="900" b="1" noProof="0">
                        <a:solidFill>
                          <a:schemeClr val="bg1"/>
                        </a:solidFill>
                        <a:latin typeface="+mn-lt"/>
                      </a:endParaRPr>
                    </a:p>
                  </a:txBody>
                  <a:tcPr anchor="ctr">
                    <a:solidFill>
                      <a:srgbClr val="F2EAE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a:solidFill>
                            <a:schemeClr val="bg1"/>
                          </a:solidFill>
                          <a:latin typeface="+mj-lt"/>
                          <a:ea typeface="+mn-ea"/>
                          <a:cs typeface="Segoe UI" panose="020B0502040204020203" pitchFamily="34" charset="0"/>
                        </a:rPr>
                        <a:t>BRK231: Deploy. Observe. Learn. Reinforcement learning for production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1">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2">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a:buNone/>
                      </a:pPr>
                      <a:r>
                        <a:rPr lang="en-US" sz="900">
                          <a:solidFill>
                            <a:schemeClr val="bg1"/>
                          </a:solidFill>
                          <a:effectLst/>
                          <a:latin typeface="+mn-lt"/>
                          <a:ea typeface="DengXian" panose="02010600030101010101" pitchFamily="2" charset="-122"/>
                          <a:cs typeface="Aptos" panose="020B0004020202020204" pitchFamily="34" charset="0"/>
                        </a:rPr>
                        <a:t>Agents don't fail in demos — they fail in production. In this breakout, see how teams use fine-tuning and reinforcement learning on Microsoft Foundry to improve production agents using real usage signals. We cover when fine-tuning reduces cost and latency, when RL delivers deeper gains, and how Foundry makes it easy to train, evaluate, and redeploy safely. Johnson &amp; Johnson shares their journey from RL experiments to production.</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2543478911"/>
                  </a:ext>
                </a:extLst>
              </a:tr>
              <a:tr h="779032">
                <a:tc vMerge="1">
                  <a:txBody>
                    <a:bodyPr/>
                    <a:lstStyle/>
                    <a:p>
                      <a:endParaRPr lang="en-US"/>
                    </a:p>
                  </a:txBody>
                  <a:tcPr>
                    <a:lnT w="38100" cap="flat" cmpd="sng" algn="ctr">
                      <a:solidFill>
                        <a:schemeClr val="tx2">
                          <a:lumMod val="75000"/>
                        </a:schemeClr>
                      </a:solidFill>
                      <a:prstDash val="solid"/>
                      <a:round/>
                      <a:headEnd type="none" w="med" len="med"/>
                      <a:tailEnd type="none" w="med" len="med"/>
                    </a:lnT>
                  </a:tcPr>
                </a:tc>
                <a:tc>
                  <a:txBody>
                    <a:bodyPr/>
                    <a:lstStyle/>
                    <a:p>
                      <a:pPr marL="0" marR="0" lvl="0" indent="0" algn="ctr" defTabSz="932742" rtl="0" eaLnBrk="1" fontAlgn="auto" latinLnBrk="0" hangingPunct="1">
                        <a:lnSpc>
                          <a:spcPct val="90000"/>
                        </a:lnSpc>
                        <a:spcBef>
                          <a:spcPts val="0"/>
                        </a:spcBef>
                        <a:spcAft>
                          <a:spcPts val="333"/>
                        </a:spcAft>
                        <a:buClrTx/>
                        <a:buSzTx/>
                        <a:buFontTx/>
                        <a:buNone/>
                        <a:tabLst/>
                        <a:defRPr/>
                      </a:pPr>
                      <a:r>
                        <a:rPr kumimoji="0" lang="en-US" sz="900" b="1" u="none" strike="noStrike" kern="1200" cap="none" spc="0" normalizeH="0" baseline="0" noProof="0">
                          <a:ln>
                            <a:noFill/>
                          </a:ln>
                          <a:solidFill>
                            <a:schemeClr val="bg1"/>
                          </a:solidFill>
                          <a:effectLst/>
                          <a:uLnTx/>
                          <a:uFillTx/>
                          <a:latin typeface="+mn-lt"/>
                        </a:rPr>
                        <a:t>Lab</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900" b="0" i="0" u="none" strike="noStrike">
                          <a:solidFill>
                            <a:schemeClr val="bg1"/>
                          </a:solidFill>
                          <a:effectLst/>
                          <a:latin typeface="+mj-lt"/>
                        </a:rPr>
                        <a:t>LAB520: Get Started with Models in Microsoft Foundry to Build AI Apps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1000" b="1" i="0" u="none" strike="noStrike" kern="1200">
                          <a:solidFill>
                            <a:schemeClr val="accent1"/>
                          </a:solidFill>
                          <a:effectLst/>
                          <a:latin typeface="+mn-lt"/>
                          <a:ea typeface="+mn-ea"/>
                          <a:cs typeface="+mn-cs"/>
                          <a:hlinkClick r:id="rId1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kern="1200">
                        <a:solidFill>
                          <a:schemeClr val="accent1"/>
                        </a:solidFill>
                        <a:effectLst/>
                        <a:latin typeface="+mn-lt"/>
                        <a:ea typeface="+mn-ea"/>
                        <a:cs typeface="+mn-cs"/>
                      </a:endParaRPr>
                    </a:p>
                    <a:p>
                      <a:pPr algn="l" fontAlgn="ctr">
                        <a:buNone/>
                      </a:pPr>
                      <a:r>
                        <a:rPr lang="en-US" sz="1000" b="1" i="0" u="none" strike="noStrike" kern="1200">
                          <a:solidFill>
                            <a:schemeClr val="accent1"/>
                          </a:solidFill>
                          <a:effectLst/>
                          <a:latin typeface="+mn-lt"/>
                          <a:ea typeface="+mn-ea"/>
                          <a:cs typeface="+mn-cs"/>
                          <a:hlinkClick r:id="rId1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In this hands-on lab, you will build a production-ready AI application using Microsoft Foundry, with no fine-tuning or deep machine learning expertise required. You will discover and select models, provision a Foundry project, and connect to a hosted model using the OpenAI SDK. You’ll implement a comment moderation workflow, compare model outputs, and package the solution as a hosted agent using Python, ready for real-world integration.</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extLst>
                  <a:ext uri="{0D108BD9-81ED-4DB2-BD59-A6C34878D82A}">
                    <a16:rowId xmlns:a16="http://schemas.microsoft.com/office/drawing/2014/main" val="334083537"/>
                  </a:ext>
                </a:extLst>
              </a:tr>
              <a:tr h="686164">
                <a:tc rowSpan="2">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1000" b="1" u="none" strike="noStrike" noProof="0">
                          <a:solidFill>
                            <a:schemeClr val="tx1"/>
                          </a:solidFill>
                          <a:effectLst/>
                        </a:rPr>
                        <a:t>Responsible AI</a:t>
                      </a:r>
                      <a:endParaRPr lang="en-US" sz="1000" b="1" i="0" u="none" strike="noStrike" noProof="0">
                        <a:solidFill>
                          <a:schemeClr val="tx1"/>
                        </a:solidFill>
                        <a:effectLst/>
                        <a:latin typeface="Segoe UI"/>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81BC06"/>
                    </a:solidFill>
                  </a:tcPr>
                </a:tc>
                <a:tc>
                  <a:txBody>
                    <a:bodyPr/>
                    <a:lstStyle/>
                    <a:p>
                      <a:pPr marL="0" marR="0" lvl="0" indent="0" algn="ctr" rtl="0">
                        <a:lnSpc>
                          <a:spcPct val="90000"/>
                        </a:lnSpc>
                        <a:spcBef>
                          <a:spcPts val="0"/>
                        </a:spcBef>
                        <a:spcAft>
                          <a:spcPts val="333"/>
                        </a:spcAft>
                        <a:buClrTx/>
                        <a:buSzTx/>
                        <a:buFontTx/>
                        <a:buNone/>
                      </a:pPr>
                      <a:r>
                        <a:rPr lang="en-US" sz="900" b="1" noProof="0">
                          <a:solidFill>
                            <a:schemeClr val="bg1"/>
                          </a:solidFill>
                          <a:latin typeface="+mn-lt"/>
                        </a:rPr>
                        <a:t>Breakouts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kern="1200" noProof="0">
                          <a:solidFill>
                            <a:schemeClr val="bg1"/>
                          </a:solidFill>
                          <a:latin typeface="+mj-lt"/>
                          <a:ea typeface="+mn-ea"/>
                          <a:cs typeface="Segoe UI" panose="020B0502040204020203" pitchFamily="34" charset="0"/>
                        </a:rPr>
                        <a:t>BRK252: From observability to ROI for AI agents on any framework</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Nondeterministic, multi-agent systems break traditional monitoring. As agents reach production, observability must be built in—not added after failures. This session covers modern agent observability: cross-framework tracing and evals, rigorous inner-loop practices, evolving context-specific evals, and always-on signals that connect behavior to business outcomes to measure value, cost, and ROI.</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339659495"/>
                  </a:ext>
                </a:extLst>
              </a:tr>
              <a:tr h="779032">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lnT w="38100" cap="flat" cmpd="sng" algn="ctr">
                      <a:solidFill>
                        <a:schemeClr val="tx2">
                          <a:lumMod val="75000"/>
                        </a:schemeClr>
                      </a:solidFill>
                      <a:prstDash val="solid"/>
                      <a:round/>
                      <a:headEnd type="none" w="med" len="med"/>
                      <a:tailEnd type="none" w="med" len="med"/>
                    </a:lnT>
                  </a:tcPr>
                </a:tc>
                <a:tc>
                  <a:txBody>
                    <a:bodyPr/>
                    <a:lstStyle/>
                    <a:p>
                      <a:pPr marL="0" marR="0" lvl="0" indent="0" algn="ctr" rtl="0">
                        <a:lnSpc>
                          <a:spcPct val="90000"/>
                        </a:lnSpc>
                        <a:spcBef>
                          <a:spcPts val="0"/>
                        </a:spcBef>
                        <a:spcAft>
                          <a:spcPts val="333"/>
                        </a:spcAft>
                        <a:buClrTx/>
                        <a:buSzTx/>
                        <a:buFontTx/>
                        <a:buNone/>
                      </a:pPr>
                      <a:r>
                        <a:rPr lang="en-US" sz="900" b="1" noProof="0">
                          <a:solidFill>
                            <a:schemeClr val="bg1"/>
                          </a:solidFill>
                          <a:latin typeface="+mn-lt"/>
                          <a:cs typeface="Segoe UI"/>
                        </a:rPr>
                        <a:t>Lab</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noProof="0">
                          <a:solidFill>
                            <a:schemeClr val="bg1"/>
                          </a:solidFill>
                          <a:latin typeface="+mj-lt"/>
                          <a:cs typeface="Segoe UI" panose="020B0502040204020203" pitchFamily="34" charset="0"/>
                        </a:rPr>
                        <a:t>LAB540: Observe, optimize and protect your hosted agents in Microsoft Foundry</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1000" b="1" i="0" u="none" strike="noStrike" kern="1200">
                          <a:solidFill>
                            <a:schemeClr val="accent1"/>
                          </a:solidFill>
                          <a:effectLst/>
                          <a:latin typeface="+mn-lt"/>
                          <a:ea typeface="+mn-ea"/>
                          <a:cs typeface="+mn-cs"/>
                          <a:hlinkClick r:id="rId17">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kern="1200">
                        <a:solidFill>
                          <a:schemeClr val="accent1"/>
                        </a:solidFill>
                        <a:effectLst/>
                        <a:latin typeface="+mn-lt"/>
                        <a:ea typeface="+mn-ea"/>
                        <a:cs typeface="+mn-cs"/>
                      </a:endParaRPr>
                    </a:p>
                    <a:p>
                      <a:pPr algn="l" fontAlgn="ctr">
                        <a:buNone/>
                      </a:pPr>
                      <a:r>
                        <a:rPr lang="en-US" sz="1000" b="1" i="0" u="none" strike="noStrike" kern="1200">
                          <a:solidFill>
                            <a:schemeClr val="accent1"/>
                          </a:solidFill>
                          <a:effectLst/>
                          <a:latin typeface="+mn-lt"/>
                          <a:ea typeface="+mn-ea"/>
                          <a:cs typeface="+mn-cs"/>
                          <a:hlinkClick r:id="rId18">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Modern agents fail in ways traditional monitoring can’t catch. In this hands-on lab, learn how Microsoft Foundry Observability helps you move from prototype → production with context-specific evaluation suites (auto-generated evaluators + test datasets) wired into developer workflows via skills/MCP tooling for hosted agents. Then scale quality with continuous evaluation, trace-linked analysis, and adaptive red teaming—and walk away with a sandbox to explore additional features on your own.</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extLst>
                  <a:ext uri="{0D108BD9-81ED-4DB2-BD59-A6C34878D82A}">
                    <a16:rowId xmlns:a16="http://schemas.microsoft.com/office/drawing/2014/main" val="2309318953"/>
                  </a:ext>
                </a:extLst>
              </a:tr>
            </a:tbl>
          </a:graphicData>
        </a:graphic>
      </p:graphicFrame>
      <p:sp>
        <p:nvSpPr>
          <p:cNvPr id="3" name="Rectangle: Rounded Corners 2">
            <a:extLst>
              <a:ext uri="{FF2B5EF4-FFF2-40B4-BE49-F238E27FC236}">
                <a16:creationId xmlns:a16="http://schemas.microsoft.com/office/drawing/2014/main" id="{41AA00CF-4F51-36A9-34F2-BC5DB19E7ADD}"/>
              </a:ext>
            </a:extLst>
          </p:cNvPr>
          <p:cNvSpPr/>
          <p:nvPr/>
        </p:nvSpPr>
        <p:spPr bwMode="auto">
          <a:xfrm>
            <a:off x="11054994" y="70104"/>
            <a:ext cx="1043462" cy="257908"/>
          </a:xfrm>
          <a:prstGeom prst="round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rPr>
              <a:t>5.21.26</a:t>
            </a:r>
          </a:p>
        </p:txBody>
      </p:sp>
    </p:spTree>
    <p:extLst>
      <p:ext uri="{BB962C8B-B14F-4D97-AF65-F5344CB8AC3E}">
        <p14:creationId xmlns:p14="http://schemas.microsoft.com/office/powerpoint/2010/main" val="2476665826"/>
      </p:ext>
    </p:extLst>
  </p:cSld>
  <p:clrMapOvr>
    <a:masterClrMapping/>
  </p:clrMapOvr>
  <p:transition>
    <p:fade/>
  </p:transition>
</p:sld>
</file>

<file path=ppt/theme/theme1.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6_16-9 Event-template_v03.potx" id="{B8546B24-B17A-4DD5-B98B-1335671BD11E}" vid="{E9016AD2-793B-4212-8A69-5991AFE129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DAB09941E9A3F43AFC5AFE8EC072B04" ma:contentTypeVersion="15" ma:contentTypeDescription="Create a new document." ma:contentTypeScope="" ma:versionID="02f4dee5106ba4064f6551866d9710ff">
  <xsd:schema xmlns:xsd="http://www.w3.org/2001/XMLSchema" xmlns:xs="http://www.w3.org/2001/XMLSchema" xmlns:p="http://schemas.microsoft.com/office/2006/metadata/properties" xmlns:ns1="http://schemas.microsoft.com/sharepoint/v3" xmlns:ns2="dcdca20e-5dad-4233-927b-b186120ba560" xmlns:ns3="4594a83b-20f7-4932-9938-42a0c1d5f6ae" targetNamespace="http://schemas.microsoft.com/office/2006/metadata/properties" ma:root="true" ma:fieldsID="8e7755511dfb9c84d7d12bcca49a5f9e" ns1:_="" ns2:_="" ns3:_="">
    <xsd:import namespace="http://schemas.microsoft.com/sharepoint/v3"/>
    <xsd:import namespace="dcdca20e-5dad-4233-927b-b186120ba560"/>
    <xsd:import namespace="4594a83b-20f7-4932-9938-42a0c1d5f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element ref="ns2:MediaServiceDateTake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dca20e-5dad-4233-927b-b186120ba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594a83b-20f7-4932-9938-42a0c1d5f6a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643eda70-efd6-40f5-a108-d3271ce2ee05}" ma:internalName="TaxCatchAll" ma:showField="CatchAllData" ma:web="4594a83b-20f7-4932-9938-42a0c1d5f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4594a83b-20f7-4932-9938-42a0c1d5f6ae" xsi:nil="true"/>
    <lcf76f155ced4ddcb4097134ff3c332f xmlns="dcdca20e-5dad-4233-927b-b186120ba56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BF9F946-E5F5-4592-81A9-A35DBB01ED89}"/>
</file>

<file path=customXml/itemProps2.xml><?xml version="1.0" encoding="utf-8"?>
<ds:datastoreItem xmlns:ds="http://schemas.openxmlformats.org/officeDocument/2006/customXml" ds:itemID="{FC4E1F4B-9A68-4375-B0C5-96C5A43BDDCA}"/>
</file>

<file path=customXml/itemProps3.xml><?xml version="1.0" encoding="utf-8"?>
<ds:datastoreItem xmlns:ds="http://schemas.openxmlformats.org/officeDocument/2006/customXml" ds:itemID="{C3CF2C08-BC49-4C0F-87C0-325BA3C85889}"/>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1959</Words>
  <Application>Microsoft Office PowerPoint</Application>
  <PresentationFormat>Widescreen</PresentationFormat>
  <Paragraphs>153</Paragraphs>
  <Slides>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Segoe UI </vt:lpstr>
      <vt:lpstr>Aptos</vt:lpstr>
      <vt:lpstr>Arial</vt:lpstr>
      <vt:lpstr>Consolas</vt:lpstr>
      <vt:lpstr>Segoe Sans Display Semibold</vt:lpstr>
      <vt:lpstr>Segoe UI</vt:lpstr>
      <vt:lpstr>Segoe UI Semibold</vt:lpstr>
      <vt:lpstr>Wingdings</vt:lpstr>
      <vt:lpstr>Microsoft Build 16:9 Template Dark</vt:lpstr>
      <vt:lpstr>Microsoft Build //localhost  Content for Event Hosts</vt:lpstr>
      <vt:lpstr>Content Strategy</vt:lpstr>
      <vt:lpstr>Build //localhost Content Framework</vt:lpstr>
      <vt:lpstr>Build //localhost Content Catalog (1 of 2)</vt:lpstr>
      <vt:lpstr>Build //localhost Content Catalog (2 of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Molly Kihanya (SIMPLICITY CONSULTING LLC)</dc:creator>
  <cp:lastModifiedBy>Molly Kihanya (SIMPLICITY CONSULTING LLC)</cp:lastModifiedBy>
  <cp:revision>1</cp:revision>
  <dcterms:created xsi:type="dcterms:W3CDTF">2026-06-03T17:51:16Z</dcterms:created>
  <dcterms:modified xsi:type="dcterms:W3CDTF">2026-06-03T17:52:38Z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0x0101001DAB09941E9A3F43AFC5AFE8EC072B04</vt:lpwstr>
  </property>
  <property fmtid="{D5CDD505-2E9C-101B-9397-08002B2CF9AE}" pid="3" name="MediaServiceImageTags">
    <vt:lpwstr/>
  </property>
</Properties>
</file>